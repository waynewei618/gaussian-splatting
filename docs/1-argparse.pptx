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24" y="6356350"/>
            <a:ext cx="2133711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363" y="6356350"/>
            <a:ext cx="289575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541" y="6356350"/>
            <a:ext cx="2133711" cy="365125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ArgumentParser 命令行解析的基本语法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92608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SimSun" panose="02010600030101010101" pitchFamily="34" charset="-122"/>
                <a:ea typeface="SimSun" panose="02010600030101010101" pitchFamily="34" charset="-122"/>
                <a:cs typeface="SimSun" panose="02010600030101010101" pitchFamily="34" charset="-120"/>
              </a:rPr>
              <a:t>核心问题：终端里的字符串，如何被解析成 Python 中可点号访问的 args 对象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13716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5623560" cy="489204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536192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 anchor="ctr" anchorCtr="0"/>
          <a:p>
            <a:pPr algn="ctr"/>
            <a:r>
              <a:rPr lang="en-US" altLang="zh-CN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1</a:t>
            </a:r>
            <a:endParaRPr lang="en-US" altLang="zh-CN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8" name="Text 6"/>
          <p:cNvSpPr/>
          <p:nvPr/>
        </p:nvSpPr>
        <p:spPr>
          <a:xfrm>
            <a:off x="1188720" y="1522476"/>
            <a:ext cx="4663440" cy="32004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add_argument / add_argument_group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50392" y="1920240"/>
            <a:ext cx="5074920" cy="9601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475569"/>
                </a:solidFill>
                <a:latin typeface="SimSun" panose="02010600030101010101" pitchFamily="34" charset="-122"/>
                <a:ea typeface="SimSun" panose="02010600030101010101" pitchFamily="34" charset="-122"/>
                <a:cs typeface="SimSun" panose="02010600030101010101" pitchFamily="34" charset="-120"/>
              </a:rPr>
              <a:t>• ArgumentParser：创建“总解析器”，负责读取整条命令行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475569"/>
                </a:solidFill>
                <a:latin typeface="SimSun" panose="02010600030101010101" pitchFamily="34" charset="-122"/>
                <a:ea typeface="SimSun" panose="02010600030101010101" pitchFamily="34" charset="-122"/>
                <a:cs typeface="SimSun" panose="02010600030101010101" pitchFamily="34" charset="-120"/>
              </a:rPr>
              <a:t>• add_argument_group：只影响 -h 帮助页分组，不改变最终 args 结构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475569"/>
                </a:solidFill>
                <a:latin typeface="SimSun" panose="02010600030101010101" pitchFamily="34" charset="-122"/>
                <a:ea typeface="SimSun" panose="02010600030101010101" pitchFamily="34" charset="-122"/>
                <a:cs typeface="SimSun" panose="02010600030101010101" pitchFamily="34" charset="-120"/>
              </a:rPr>
              <a:t>• add_argument：注册具体参数，定义名称、类型、默认值与动作</a:t>
            </a:r>
            <a:endParaRPr lang="en-US" sz="1140" dirty="0"/>
          </a:p>
        </p:txBody>
      </p:sp>
      <p:sp>
        <p:nvSpPr>
          <p:cNvPr id="10" name="Shape 8"/>
          <p:cNvSpPr/>
          <p:nvPr/>
        </p:nvSpPr>
        <p:spPr>
          <a:xfrm>
            <a:off x="868680" y="2926080"/>
            <a:ext cx="1143000" cy="338328"/>
          </a:xfrm>
          <a:prstGeom prst="roundRect">
            <a:avLst>
              <a:gd name="adj" fmla="val 18919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022092"/>
            <a:ext cx="114300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命令行文本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331720" y="2926080"/>
            <a:ext cx="1143000" cy="338328"/>
          </a:xfrm>
          <a:prstGeom prst="roundRect">
            <a:avLst>
              <a:gd name="adj" fmla="val 18919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1720" y="3022092"/>
            <a:ext cx="114300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parse_args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794760" y="2926080"/>
            <a:ext cx="1143000" cy="338328"/>
          </a:xfrm>
          <a:prstGeom prst="roundRect">
            <a:avLst>
              <a:gd name="adj" fmla="val 18919"/>
            </a:avLst>
          </a:prstGeom>
          <a:solidFill>
            <a:srgbClr val="EDE9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94760" y="3022092"/>
            <a:ext cx="114300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Namespace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029968" y="3095244"/>
            <a:ext cx="256032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493008" y="3095244"/>
            <a:ext cx="256032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77240" y="4573143"/>
            <a:ext cx="320040" cy="3200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 anchor="ctr" anchorCtr="0"/>
          <a:p>
            <a:pPr algn="ctr"/>
            <a:r>
              <a:rPr lang="en-US" altLang="zh-CN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2</a:t>
            </a:r>
            <a:endParaRPr lang="en-US" altLang="zh-CN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88720" y="4559427"/>
            <a:ext cx="4663440" cy="32004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sz="1550" b="1">
                <a:solidFill>
                  <a:srgbClr val="191919"/>
                </a:solidFill>
                <a:latin typeface="Microsoft YaHei" panose="020B0503020204020204" pitchFamily="34" charset="-122"/>
              </a:rPr>
              <a:t>add_argument 的参数接口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850392" y="4930000"/>
            <a:ext cx="5074920" cy="950000"/>
          </a:xfrm>
          <a:prstGeom prst="rect">
            <a:avLst/>
          </a:prstGeom>
          <a:noFill/>
        </p:spPr>
        <p:txBody>
          <a:bodyPr wrap="square" lIns="0" tIns="508" rIns="0" bIns="508" rtlCol="0" anchor="ctr">
            <a:norm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sz="1020">
                <a:solidFill>
                  <a:srgbClr val="2D2D2D"/>
                </a:solidFill>
                <a:latin typeface="SimSun" panose="02010600030101010101" pitchFamily="34" charset="-122"/>
              </a:rPr>
              <a:t>• 名称：add_argument("--source_path", "-s") 可同时注册长参数与短参数</a:t>
            </a:r>
            <a:endParaRPr lang="en-US" sz="1140" dirty="0"/>
          </a:p>
          <a:p>
            <a:pPr>
              <a:spcAft>
                <a:spcPts val="300"/>
              </a:spcAft>
            </a:pPr>
            <a:r>
              <a:rPr sz="1020">
                <a:solidFill>
                  <a:srgbClr val="2D2D2D"/>
                </a:solidFill>
                <a:latin typeface="SimSun" panose="02010600030101010101" pitchFamily="34" charset="-122"/>
              </a:rPr>
              <a:t>• type：把命令行字符串转成 int / float / str 等 Python 类型</a:t>
            </a:r>
            <a:endParaRPr sz="1020">
              <a:solidFill>
                <a:srgbClr val="2D2D2D"/>
              </a:solidFill>
              <a:latin typeface="SimSun" panose="02010600030101010101" pitchFamily="34" charset="-122"/>
            </a:endParaRPr>
          </a:p>
          <a:p>
            <a:pPr>
              <a:spcAft>
                <a:spcPts val="300"/>
              </a:spcAft>
            </a:pPr>
            <a:r>
              <a:rPr sz="1020">
                <a:solidFill>
                  <a:srgbClr val="2D2D2D"/>
                </a:solidFill>
                <a:latin typeface="SimSun" panose="02010600030101010101" pitchFamily="34" charset="-122"/>
              </a:rPr>
              <a:t>• default：未显式传参时，自动补齐 args.xxx 的默认值</a:t>
            </a:r>
            <a:endParaRPr sz="1020">
              <a:solidFill>
                <a:srgbClr val="2D2D2D"/>
              </a:solidFill>
              <a:latin typeface="SimSun" panose="02010600030101010101" pitchFamily="34" charset="-122"/>
            </a:endParaRPr>
          </a:p>
          <a:p>
            <a:pPr>
              <a:spcAft>
                <a:spcPts val="300"/>
              </a:spcAft>
            </a:pPr>
            <a:r>
              <a:rPr sz="1020">
                <a:solidFill>
                  <a:srgbClr val="2D2D2D"/>
                </a:solidFill>
                <a:latin typeface="SimSun" panose="02010600030101010101" pitchFamily="34" charset="-122"/>
              </a:rPr>
              <a:t>• action / nargs：定义布尔开关与多值参数，如 store_true、nargs="+"</a:t>
            </a:r>
            <a:endParaRPr sz="1020">
              <a:solidFill>
                <a:srgbClr val="2D2D2D"/>
              </a:solidFill>
              <a:latin typeface="SimSun" panose="02010600030101010101" pitchFamily="34" charset="-122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446520" y="129844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1348740"/>
            <a:ext cx="114300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基本写法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46520" y="1627632"/>
            <a:ext cx="5230368" cy="2944368"/>
          </a:xfrm>
          <a:prstGeom prst="roundRect">
            <a:avLst>
              <a:gd name="adj" fmla="val 2484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92824" y="1764792"/>
            <a:ext cx="49377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argparse import ArgumentParser</a:t>
            </a:r>
            <a:endParaRPr lang="en-US" sz="890" dirty="0"/>
          </a:p>
        </p:txBody>
      </p:sp>
      <p:sp>
        <p:nvSpPr>
          <p:cNvPr id="30" name="Text 28"/>
          <p:cNvSpPr/>
          <p:nvPr/>
        </p:nvSpPr>
        <p:spPr>
          <a:xfrm>
            <a:off x="6592824" y="1929384"/>
            <a:ext cx="49377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890" dirty="0"/>
          </a:p>
        </p:txBody>
      </p:sp>
      <p:sp>
        <p:nvSpPr>
          <p:cNvPr id="31" name="Text 29"/>
          <p:cNvSpPr/>
          <p:nvPr/>
        </p:nvSpPr>
        <p:spPr>
          <a:xfrm>
            <a:off x="6592824" y="2093976"/>
            <a:ext cx="49377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parser = ArgumentParser(description="Training script parameters")</a:t>
            </a:r>
            <a:endParaRPr lang="en-US" sz="890" dirty="0"/>
          </a:p>
        </p:txBody>
      </p:sp>
      <p:sp>
        <p:nvSpPr>
          <p:cNvPr id="32" name="Text 30"/>
          <p:cNvSpPr/>
          <p:nvPr/>
        </p:nvSpPr>
        <p:spPr>
          <a:xfrm>
            <a:off x="6592824" y="2258568"/>
            <a:ext cx="49377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890" dirty="0"/>
          </a:p>
        </p:txBody>
      </p:sp>
      <p:sp>
        <p:nvSpPr>
          <p:cNvPr id="33" name="Text 31"/>
          <p:cNvSpPr/>
          <p:nvPr/>
        </p:nvSpPr>
        <p:spPr>
          <a:xfrm>
            <a:off x="6592824" y="2423160"/>
            <a:ext cx="49377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loading = parser.add_argument_group("Loading Parameters")</a:t>
            </a:r>
            <a:endParaRPr lang="en-US" sz="890" dirty="0"/>
          </a:p>
        </p:txBody>
      </p:sp>
      <p:sp>
        <p:nvSpPr>
          <p:cNvPr id="34" name="Text 32"/>
          <p:cNvSpPr/>
          <p:nvPr/>
        </p:nvSpPr>
        <p:spPr>
          <a:xfrm>
            <a:off x="6592824" y="2587752"/>
            <a:ext cx="49377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loading.add_argument("--source_path", "-s", type=str, default="")</a:t>
            </a:r>
            <a:endParaRPr lang="en-US" sz="890" dirty="0"/>
          </a:p>
        </p:txBody>
      </p:sp>
      <p:sp>
        <p:nvSpPr>
          <p:cNvPr id="35" name="Text 33"/>
          <p:cNvSpPr/>
          <p:nvPr/>
        </p:nvSpPr>
        <p:spPr>
          <a:xfrm>
            <a:off x="6592824" y="2752344"/>
            <a:ext cx="49377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loading.add_argument("--white_background", "-w", action="store_true")</a:t>
            </a:r>
            <a:endParaRPr lang="en-US" sz="890" dirty="0"/>
          </a:p>
        </p:txBody>
      </p:sp>
      <p:sp>
        <p:nvSpPr>
          <p:cNvPr id="36" name="Text 34"/>
          <p:cNvSpPr/>
          <p:nvPr/>
        </p:nvSpPr>
        <p:spPr>
          <a:xfrm>
            <a:off x="6592824" y="2916936"/>
            <a:ext cx="49377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890" dirty="0"/>
          </a:p>
        </p:txBody>
      </p:sp>
      <p:sp>
        <p:nvSpPr>
          <p:cNvPr id="37" name="Text 35"/>
          <p:cNvSpPr/>
          <p:nvPr/>
        </p:nvSpPr>
        <p:spPr>
          <a:xfrm>
            <a:off x="6592824" y="3081528"/>
            <a:ext cx="49377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parser.add_argument("--iterations", type=int, default=30000)</a:t>
            </a:r>
            <a:endParaRPr lang="en-US" sz="890" dirty="0"/>
          </a:p>
        </p:txBody>
      </p:sp>
      <p:sp>
        <p:nvSpPr>
          <p:cNvPr id="38" name="Text 36"/>
          <p:cNvSpPr/>
          <p:nvPr/>
        </p:nvSpPr>
        <p:spPr>
          <a:xfrm>
            <a:off x="6592824" y="3246120"/>
            <a:ext cx="49377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parser.add_argument("--test_iterations", nargs="+", type=int,</a:t>
            </a:r>
            <a:endParaRPr lang="en-US" sz="890" dirty="0"/>
          </a:p>
        </p:txBody>
      </p:sp>
      <p:sp>
        <p:nvSpPr>
          <p:cNvPr id="39" name="Text 37"/>
          <p:cNvSpPr/>
          <p:nvPr/>
        </p:nvSpPr>
        <p:spPr>
          <a:xfrm>
            <a:off x="6592824" y="3410712"/>
            <a:ext cx="49377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     default=[7000, 30000])</a:t>
            </a:r>
            <a:endParaRPr lang="en-US" sz="890" dirty="0"/>
          </a:p>
        </p:txBody>
      </p:sp>
      <p:sp>
        <p:nvSpPr>
          <p:cNvPr id="40" name="Text 38"/>
          <p:cNvSpPr/>
          <p:nvPr/>
        </p:nvSpPr>
        <p:spPr>
          <a:xfrm>
            <a:off x="6592824" y="3575304"/>
            <a:ext cx="49377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890" dirty="0"/>
          </a:p>
        </p:txBody>
      </p:sp>
      <p:sp>
        <p:nvSpPr>
          <p:cNvPr id="41" name="Text 39"/>
          <p:cNvSpPr/>
          <p:nvPr/>
        </p:nvSpPr>
        <p:spPr>
          <a:xfrm>
            <a:off x="6592824" y="3739896"/>
            <a:ext cx="49377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args = parser.parse_args()</a:t>
            </a:r>
            <a:endParaRPr lang="en-US" sz="890" dirty="0"/>
          </a:p>
        </p:txBody>
      </p:sp>
      <p:sp>
        <p:nvSpPr>
          <p:cNvPr id="42" name="Text 40"/>
          <p:cNvSpPr/>
          <p:nvPr/>
        </p:nvSpPr>
        <p:spPr>
          <a:xfrm>
            <a:off x="6592824" y="3904488"/>
            <a:ext cx="49377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args.source_path / args.iterations / args.test_iterations</a:t>
            </a:r>
            <a:endParaRPr lang="en-US" sz="890" dirty="0"/>
          </a:p>
        </p:txBody>
      </p:sp>
      <p:sp>
        <p:nvSpPr>
          <p:cNvPr id="43" name="Shape 41"/>
          <p:cNvSpPr/>
          <p:nvPr/>
        </p:nvSpPr>
        <p:spPr>
          <a:xfrm>
            <a:off x="6446520" y="4736592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46520" y="4786884"/>
            <a:ext cx="114300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记忆句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446520" y="5056632"/>
            <a:ext cx="5230368" cy="960120"/>
          </a:xfrm>
          <a:prstGeom prst="roundRect">
            <a:avLst>
              <a:gd name="adj" fmla="val 9524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75120" y="5248656"/>
            <a:ext cx="4791456" cy="5943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E40A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add_argument_group 管“展示分组”，add_argument 管“参数注册”，parse_args 管“字符串 → Namespace 对象”。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ParamGroup 类的设计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92608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SimSun" panose="02010600030101010101" pitchFamily="34" charset="-122"/>
                <a:ea typeface="SimSun" panose="02010600030101010101" pitchFamily="34" charset="-122"/>
                <a:cs typeface="SimSun" panose="02010600030101010101" pitchFamily="34" charset="-120"/>
              </a:rPr>
              <a:t>核心问题：仓库如何把“类属性声明”自动变成命令行参数，并在训练入口按组取出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13716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25880"/>
            <a:ext cx="2670048" cy="1325880"/>
          </a:xfrm>
          <a:prstGeom prst="roundRect">
            <a:avLst>
              <a:gd name="adj" fmla="val 8276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453896"/>
            <a:ext cx="234086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① 类的继承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" y="1792224"/>
            <a:ext cx="2359152" cy="75895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E293B"/>
                </a:solidFill>
                <a:latin typeface="SimSun" panose="02010600030101010101" pitchFamily="34" charset="-122"/>
                <a:ea typeface="SimSun" panose="02010600030101010101" pitchFamily="34" charset="-122"/>
                <a:cs typeface="SimSun" panose="02010600030101010101" pitchFamily="34" charset="-120"/>
              </a:rPr>
              <a:t>ModelParams / PipelineParams / OptimizationParams 都继承 ParamGroup；子类只声明参数，父类统一注册。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3493008" y="1325880"/>
            <a:ext cx="2670048" cy="1325880"/>
          </a:xfrm>
          <a:prstGeom prst="roundRect">
            <a:avLst>
              <a:gd name="adj" fmla="val 8276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1453896"/>
            <a:ext cx="234086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② 自动分组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0" y="1792224"/>
            <a:ext cx="2359152" cy="75895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E293B"/>
                </a:solidFill>
                <a:latin typeface="SimSun" panose="02010600030101010101" pitchFamily="34" charset="-122"/>
                <a:ea typeface="SimSun" panose="02010600030101010101" pitchFamily="34" charset="-122"/>
                <a:cs typeface="SimSun" panose="02010600030101010101" pitchFamily="34" charset="-120"/>
              </a:rPr>
              <a:t>super().__init__(parser, "Loading Parameters") 会创建对应 add_argument_group。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594360" y="2926080"/>
            <a:ext cx="2670048" cy="1417320"/>
          </a:xfrm>
          <a:prstGeom prst="roundRect">
            <a:avLst>
              <a:gd name="adj" fmla="val 7742"/>
            </a:avLst>
          </a:prstGeom>
          <a:solidFill>
            <a:srgbClr val="FFEDD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3054096"/>
            <a:ext cx="234086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③ 自动注册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58952" y="3392424"/>
            <a:ext cx="2359152" cy="85039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E293B"/>
                </a:solidFill>
                <a:latin typeface="SimSun" panose="02010600030101010101" pitchFamily="34" charset="-122"/>
                <a:ea typeface="SimSun" panose="02010600030101010101" pitchFamily="34" charset="-122"/>
                <a:cs typeface="SimSun" panose="02010600030101010101" pitchFamily="34" charset="-120"/>
              </a:rPr>
              <a:t>父类遍历 vars(self)，根据属性名、类型、默认值自动调用 group.add_argument。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3493008" y="2926080"/>
            <a:ext cx="2670048" cy="1417320"/>
          </a:xfrm>
          <a:prstGeom prst="roundRect">
            <a:avLst>
              <a:gd name="adj" fmla="val 7742"/>
            </a:avLst>
          </a:prstGeom>
          <a:solidFill>
            <a:srgbClr val="EDE9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3054096"/>
            <a:ext cx="234086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④ 提取分组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0" y="3392424"/>
            <a:ext cx="2359152" cy="85039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E293B"/>
                </a:solidFill>
                <a:latin typeface="SimSun" panose="02010600030101010101" pitchFamily="34" charset="-122"/>
                <a:ea typeface="SimSun" panose="02010600030101010101" pitchFamily="34" charset="-122"/>
                <a:cs typeface="SimSun" panose="02010600030101010101" pitchFamily="34" charset="-120"/>
              </a:rPr>
              <a:t>extract(args) 只取属于本组的字段，包装成 GroupParams，传给 training。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94360" y="4617720"/>
            <a:ext cx="5577840" cy="1252728"/>
          </a:xfrm>
          <a:prstGeom prst="roundRect">
            <a:avLst>
              <a:gd name="adj" fmla="val 87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709160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一条主线：声明参数 → 自动注册 → 统一解析 → 按组交给训练函数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3222" y="5065776"/>
            <a:ext cx="841248" cy="338328"/>
          </a:xfrm>
          <a:prstGeom prst="roundRect">
            <a:avLst>
              <a:gd name="adj" fmla="val 189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222" y="5161788"/>
            <a:ext cx="841248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子类属性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821942" y="5065776"/>
            <a:ext cx="841248" cy="338328"/>
          </a:xfrm>
          <a:prstGeom prst="roundRect">
            <a:avLst>
              <a:gd name="adj" fmla="val 189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1942" y="5161788"/>
            <a:ext cx="841248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vars(self)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010662" y="5065776"/>
            <a:ext cx="960120" cy="338328"/>
          </a:xfrm>
          <a:prstGeom prst="roundRect">
            <a:avLst>
              <a:gd name="adj" fmla="val 189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10662" y="5161788"/>
            <a:ext cx="96012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add_argument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290822" y="5065776"/>
            <a:ext cx="841248" cy="338328"/>
          </a:xfrm>
          <a:prstGeom prst="roundRect">
            <a:avLst>
              <a:gd name="adj" fmla="val 189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0822" y="5161788"/>
            <a:ext cx="841248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parse_args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269230" y="5065776"/>
            <a:ext cx="841248" cy="338328"/>
          </a:xfrm>
          <a:prstGeom prst="roundRect">
            <a:avLst>
              <a:gd name="adj" fmla="val 189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69230" y="5161788"/>
            <a:ext cx="841248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extract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529334" y="5234940"/>
            <a:ext cx="246888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718054" y="5234940"/>
            <a:ext cx="246888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998214" y="5234940"/>
            <a:ext cx="246888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132070" y="5234940"/>
            <a:ext cx="109728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446520" y="129844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1348740"/>
            <a:ext cx="114300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仓库实现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46520" y="1627632"/>
            <a:ext cx="5230368" cy="4224528"/>
          </a:xfrm>
          <a:prstGeom prst="roundRect">
            <a:avLst>
              <a:gd name="adj" fmla="val 1732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92824" y="1764792"/>
            <a:ext cx="4937760" cy="15983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class ModelParams(ParamGroup):</a:t>
            </a:r>
            <a:endParaRPr lang="en-US" sz="890" dirty="0"/>
          </a:p>
        </p:txBody>
      </p:sp>
      <p:sp>
        <p:nvSpPr>
          <p:cNvPr id="37" name="Text 35"/>
          <p:cNvSpPr/>
          <p:nvPr/>
        </p:nvSpPr>
        <p:spPr>
          <a:xfrm>
            <a:off x="6592824" y="1924629"/>
            <a:ext cx="4937760" cy="15983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def __init__(self, parser, sentinel=False):</a:t>
            </a:r>
            <a:endParaRPr lang="en-US" sz="890" dirty="0"/>
          </a:p>
        </p:txBody>
      </p:sp>
      <p:sp>
        <p:nvSpPr>
          <p:cNvPr id="38" name="Text 36"/>
          <p:cNvSpPr/>
          <p:nvPr/>
        </p:nvSpPr>
        <p:spPr>
          <a:xfrm>
            <a:off x="6592824" y="2084466"/>
            <a:ext cx="4937760" cy="15983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self.sh_degree = 3</a:t>
            </a:r>
            <a:endParaRPr lang="en-US" sz="890" dirty="0"/>
          </a:p>
        </p:txBody>
      </p:sp>
      <p:sp>
        <p:nvSpPr>
          <p:cNvPr id="39" name="Text 37"/>
          <p:cNvSpPr/>
          <p:nvPr/>
        </p:nvSpPr>
        <p:spPr>
          <a:xfrm>
            <a:off x="6592824" y="2244303"/>
            <a:ext cx="4937760" cy="15983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self._source_path = ""</a:t>
            </a:r>
            <a:endParaRPr lang="en-US" sz="890" dirty="0"/>
          </a:p>
        </p:txBody>
      </p:sp>
      <p:sp>
        <p:nvSpPr>
          <p:cNvPr id="40" name="Text 38"/>
          <p:cNvSpPr/>
          <p:nvPr/>
        </p:nvSpPr>
        <p:spPr>
          <a:xfrm>
            <a:off x="6592824" y="2404140"/>
            <a:ext cx="4937760" cy="15983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self._model_path = ""</a:t>
            </a:r>
            <a:endParaRPr lang="en-US" sz="890" dirty="0"/>
          </a:p>
        </p:txBody>
      </p:sp>
      <p:sp>
        <p:nvSpPr>
          <p:cNvPr id="41" name="Text 39"/>
          <p:cNvSpPr/>
          <p:nvPr/>
        </p:nvSpPr>
        <p:spPr>
          <a:xfrm>
            <a:off x="6592824" y="2563978"/>
            <a:ext cx="4937760" cy="15983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self._images = "images"</a:t>
            </a:r>
            <a:endParaRPr lang="en-US" sz="890" dirty="0"/>
          </a:p>
        </p:txBody>
      </p:sp>
      <p:sp>
        <p:nvSpPr>
          <p:cNvPr id="42" name="Text 40"/>
          <p:cNvSpPr/>
          <p:nvPr/>
        </p:nvSpPr>
        <p:spPr>
          <a:xfrm>
            <a:off x="6592824" y="2723815"/>
            <a:ext cx="4937760" cy="15983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self._white_background = False</a:t>
            </a:r>
            <a:endParaRPr lang="en-US" sz="890" dirty="0"/>
          </a:p>
        </p:txBody>
      </p:sp>
      <p:sp>
        <p:nvSpPr>
          <p:cNvPr id="43" name="Text 41"/>
          <p:cNvSpPr/>
          <p:nvPr/>
        </p:nvSpPr>
        <p:spPr>
          <a:xfrm>
            <a:off x="6592824" y="2883652"/>
            <a:ext cx="4937760" cy="15983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self.data_device = "cuda"</a:t>
            </a:r>
            <a:endParaRPr lang="en-US" sz="890" dirty="0"/>
          </a:p>
        </p:txBody>
      </p:sp>
      <p:sp>
        <p:nvSpPr>
          <p:cNvPr id="44" name="Text 42"/>
          <p:cNvSpPr/>
          <p:nvPr/>
        </p:nvSpPr>
        <p:spPr>
          <a:xfrm>
            <a:off x="6592824" y="3043489"/>
            <a:ext cx="4937760" cy="15983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self.eval = False</a:t>
            </a:r>
            <a:endParaRPr lang="en-US" sz="890" dirty="0"/>
          </a:p>
        </p:txBody>
      </p:sp>
      <p:sp>
        <p:nvSpPr>
          <p:cNvPr id="45" name="Text 43"/>
          <p:cNvSpPr/>
          <p:nvPr/>
        </p:nvSpPr>
        <p:spPr>
          <a:xfrm>
            <a:off x="6592824" y="3203326"/>
            <a:ext cx="4937760" cy="15983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super().__init__(parser, "Loading Parameters", sentinel)</a:t>
            </a:r>
            <a:endParaRPr lang="en-US" sz="890" dirty="0"/>
          </a:p>
        </p:txBody>
      </p:sp>
      <p:sp>
        <p:nvSpPr>
          <p:cNvPr id="46" name="Text 44"/>
          <p:cNvSpPr/>
          <p:nvPr/>
        </p:nvSpPr>
        <p:spPr>
          <a:xfrm>
            <a:off x="6592824" y="3363163"/>
            <a:ext cx="4937760" cy="15983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890" dirty="0"/>
          </a:p>
        </p:txBody>
      </p:sp>
      <p:sp>
        <p:nvSpPr>
          <p:cNvPr id="47" name="Text 45"/>
          <p:cNvSpPr/>
          <p:nvPr/>
        </p:nvSpPr>
        <p:spPr>
          <a:xfrm>
            <a:off x="6592824" y="3523000"/>
            <a:ext cx="4937760" cy="15983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class ParamGroup:</a:t>
            </a:r>
            <a:endParaRPr lang="en-US" sz="890" dirty="0"/>
          </a:p>
        </p:txBody>
      </p:sp>
      <p:sp>
        <p:nvSpPr>
          <p:cNvPr id="48" name="Text 46"/>
          <p:cNvSpPr/>
          <p:nvPr/>
        </p:nvSpPr>
        <p:spPr>
          <a:xfrm>
            <a:off x="6592824" y="3682837"/>
            <a:ext cx="4937760" cy="15983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def __init__(self, parser, name, fill_none=False):</a:t>
            </a:r>
            <a:endParaRPr lang="en-US" sz="890" dirty="0"/>
          </a:p>
        </p:txBody>
      </p:sp>
      <p:sp>
        <p:nvSpPr>
          <p:cNvPr id="49" name="Text 47"/>
          <p:cNvSpPr/>
          <p:nvPr/>
        </p:nvSpPr>
        <p:spPr>
          <a:xfrm>
            <a:off x="6592824" y="3842675"/>
            <a:ext cx="4937760" cy="15983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group = parser.add_argument_group(name)</a:t>
            </a:r>
            <a:endParaRPr lang="en-US" sz="890" dirty="0"/>
          </a:p>
        </p:txBody>
      </p:sp>
      <p:sp>
        <p:nvSpPr>
          <p:cNvPr id="50" name="Text 48"/>
          <p:cNvSpPr/>
          <p:nvPr/>
        </p:nvSpPr>
        <p:spPr>
          <a:xfrm>
            <a:off x="6592824" y="4002512"/>
            <a:ext cx="4937760" cy="15983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for key, value in vars(self).items():</a:t>
            </a:r>
            <a:endParaRPr lang="en-US" sz="890" dirty="0"/>
          </a:p>
        </p:txBody>
      </p:sp>
      <p:sp>
        <p:nvSpPr>
          <p:cNvPr id="51" name="Text 49"/>
          <p:cNvSpPr/>
          <p:nvPr/>
        </p:nvSpPr>
        <p:spPr>
          <a:xfrm>
            <a:off x="6592824" y="4162349"/>
            <a:ext cx="4937760" cy="15983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shorthand = key.startswith("_")</a:t>
            </a:r>
            <a:endParaRPr lang="en-US" sz="890" dirty="0"/>
          </a:p>
        </p:txBody>
      </p:sp>
      <p:sp>
        <p:nvSpPr>
          <p:cNvPr id="52" name="Text 50"/>
          <p:cNvSpPr/>
          <p:nvPr/>
        </p:nvSpPr>
        <p:spPr>
          <a:xfrm>
            <a:off x="6592824" y="4322186"/>
            <a:ext cx="4937760" cy="15983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if shorthand: key = key[1:]</a:t>
            </a:r>
            <a:endParaRPr lang="en-US" sz="890" dirty="0"/>
          </a:p>
        </p:txBody>
      </p:sp>
      <p:sp>
        <p:nvSpPr>
          <p:cNvPr id="53" name="Text 51"/>
          <p:cNvSpPr/>
          <p:nvPr/>
        </p:nvSpPr>
        <p:spPr>
          <a:xfrm>
            <a:off x="6592824" y="4482023"/>
            <a:ext cx="4937760" cy="15983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group.add_argument("--" + key, ...)</a:t>
            </a:r>
            <a:endParaRPr lang="en-US" sz="890" dirty="0"/>
          </a:p>
        </p:txBody>
      </p:sp>
      <p:sp>
        <p:nvSpPr>
          <p:cNvPr id="54" name="Text 52"/>
          <p:cNvSpPr/>
          <p:nvPr/>
        </p:nvSpPr>
        <p:spPr>
          <a:xfrm>
            <a:off x="6592824" y="4641860"/>
            <a:ext cx="4937760" cy="15983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890" dirty="0"/>
          </a:p>
        </p:txBody>
      </p:sp>
      <p:sp>
        <p:nvSpPr>
          <p:cNvPr id="55" name="Text 53"/>
          <p:cNvSpPr/>
          <p:nvPr/>
        </p:nvSpPr>
        <p:spPr>
          <a:xfrm>
            <a:off x="6592824" y="4801697"/>
            <a:ext cx="4937760" cy="15983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def extract(self, args):</a:t>
            </a:r>
            <a:endParaRPr lang="en-US" sz="890" dirty="0"/>
          </a:p>
        </p:txBody>
      </p:sp>
      <p:sp>
        <p:nvSpPr>
          <p:cNvPr id="56" name="Text 54"/>
          <p:cNvSpPr/>
          <p:nvPr/>
        </p:nvSpPr>
        <p:spPr>
          <a:xfrm>
            <a:off x="6592824" y="4961534"/>
            <a:ext cx="4937760" cy="15983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group = GroupParams()</a:t>
            </a:r>
            <a:endParaRPr lang="en-US" sz="890" dirty="0"/>
          </a:p>
        </p:txBody>
      </p:sp>
      <p:sp>
        <p:nvSpPr>
          <p:cNvPr id="57" name="Text 55"/>
          <p:cNvSpPr/>
          <p:nvPr/>
        </p:nvSpPr>
        <p:spPr>
          <a:xfrm>
            <a:off x="6592824" y="5121372"/>
            <a:ext cx="4937760" cy="15983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for arg in vars(args).items():</a:t>
            </a:r>
            <a:endParaRPr lang="en-US" sz="890" dirty="0"/>
          </a:p>
        </p:txBody>
      </p:sp>
      <p:sp>
        <p:nvSpPr>
          <p:cNvPr id="58" name="Text 56"/>
          <p:cNvSpPr/>
          <p:nvPr/>
        </p:nvSpPr>
        <p:spPr>
          <a:xfrm>
            <a:off x="6592824" y="5281209"/>
            <a:ext cx="4937760" cy="15983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if arg[0] in vars(self) or ("_" + arg[0]) in vars(self):</a:t>
            </a:r>
            <a:endParaRPr lang="en-US" sz="890" dirty="0"/>
          </a:p>
        </p:txBody>
      </p:sp>
      <p:sp>
        <p:nvSpPr>
          <p:cNvPr id="59" name="Text 57"/>
          <p:cNvSpPr/>
          <p:nvPr/>
        </p:nvSpPr>
        <p:spPr>
          <a:xfrm>
            <a:off x="6592824" y="5441046"/>
            <a:ext cx="4937760" cy="15983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 setattr(group, arg[0], arg[1])</a:t>
            </a:r>
            <a:endParaRPr lang="en-US" sz="890" dirty="0"/>
          </a:p>
        </p:txBody>
      </p:sp>
      <p:sp>
        <p:nvSpPr>
          <p:cNvPr id="60" name="Text 58"/>
          <p:cNvSpPr/>
          <p:nvPr/>
        </p:nvSpPr>
        <p:spPr>
          <a:xfrm>
            <a:off x="6592824" y="5600883"/>
            <a:ext cx="4937760" cy="15983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return group</a:t>
            </a:r>
            <a:endParaRPr lang="en-US" sz="890" dirty="0"/>
          </a:p>
        </p:txBody>
      </p:sp>
      <p:sp>
        <p:nvSpPr>
          <p:cNvPr id="61" name="Shape 59"/>
          <p:cNvSpPr/>
          <p:nvPr/>
        </p:nvSpPr>
        <p:spPr>
          <a:xfrm>
            <a:off x="6446520" y="5989320"/>
            <a:ext cx="5230368" cy="411480"/>
          </a:xfrm>
          <a:prstGeom prst="roundRect">
            <a:avLst>
              <a:gd name="adj" fmla="val 22222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629400" y="6089904"/>
            <a:ext cx="4864608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SimSun" panose="02010600030101010101" pitchFamily="34" charset="-122"/>
                <a:ea typeface="SimSun" panose="02010600030101010101" pitchFamily="34" charset="-122"/>
                <a:cs typeface="SimSun" panose="02010600030101010101" pitchFamily="34" charset="-120"/>
              </a:rPr>
              <a:t>重点：train.py 最终调用 lp.extract(args)、op.extract(args)、pp.extract(args)，把总 Namespace 拆回三组配置。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9229" y="228600"/>
            <a:ext cx="451485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Noto Sans CJK SC" panose="020B0500000000000000" charset="-122"/>
              </a:defRPr>
            </a:pPr>
            <a:r>
              <a:t>train.py -h：命令行参数帮助页</a:t>
            </a:r>
          </a:p>
        </p:txBody>
      </p:sp>
      <p:pic>
        <p:nvPicPr>
          <p:cNvPr id="4" name="Picture 3" descr="train_help_trimmed_termin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025" y="760730"/>
            <a:ext cx="11676380" cy="56400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imSu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imSu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2469</Words>
  <Application>WPS 演示</Application>
  <PresentationFormat>On-screen Show (16:9)</PresentationFormat>
  <Paragraphs>137</Paragraphs>
  <Slides>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8" baseType="lpstr">
      <vt:lpstr>Arial</vt:lpstr>
      <vt:lpstr>宋体</vt:lpstr>
      <vt:lpstr>Wingdings</vt:lpstr>
      <vt:lpstr>Microsoft YaHei</vt:lpstr>
      <vt:lpstr>Microsoft YaHei</vt:lpstr>
      <vt:lpstr>SimSun</vt:lpstr>
      <vt:lpstr>SimSun</vt:lpstr>
      <vt:lpstr>Consolas</vt:lpstr>
      <vt:lpstr>Consolas</vt:lpstr>
      <vt:lpstr>Consolas</vt:lpstr>
      <vt:lpstr>微软雅黑</vt:lpstr>
      <vt:lpstr>Arial Unicode MS</vt:lpstr>
      <vt:lpstr>等线</vt:lpstr>
      <vt:lpstr>Noto Sans CJK SC</vt:lpstr>
      <vt:lpstr>Office Theme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gaussian-splatting 命令行参数设计</dc:title>
  <dc:creator>OpenAI</dc:creator>
  <dc:subject>gaussian-splatting argparse &amp; ParamGroup</dc:subject>
  <cp:lastModifiedBy>sil</cp:lastModifiedBy>
  <cp:revision>11</cp:revision>
  <dcterms:created xsi:type="dcterms:W3CDTF">2026-04-24T02:16:27Z</dcterms:created>
  <dcterms:modified xsi:type="dcterms:W3CDTF">2026-04-24T02:16:27Z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774D241988D2A4617BD2EA695C3D3D69_42</vt:lpwstr>
  </property>
  <property fmtid="{D5CDD505-2E9C-101B-9397-08002B2CF9AE}" pid="3" name="KSOProductBuildVer">
    <vt:lpwstr>2052-12.1.2.25882</vt:lpwstr>
  </property>
</Properties>
</file>