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67160" cy="0"/>
          </a:xfrm>
          <a:prstGeom prst="line">
            <a:avLst/>
          </a:prstGeom>
          <a:noFill/>
          <a:ln w="12700">
            <a:solidFill>
              <a:srgbClr val="DDE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Gaussian Splatting · CLI 参数机制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57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Gaussian Splatting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41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项目命令行参数解析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78240" y="621792"/>
            <a:ext cx="2468880" cy="292608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676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 PDF 讲义 + 仓库源码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2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 argparse/ParamGroup 机制，到 train / render / metrics / convert / full_eval 的实际参数用法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78892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169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 PPT 解决什么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64408"/>
            <a:ext cx="305409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 参数从哪里注册？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2. 为什么有些参数有 -s/-m 短写？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 cfg_args、sentinel、命令行覆盖关系是什么？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4. 实验训练、渲染、评测该如何写命令？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78892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9169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重点文件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35424" y="3264408"/>
            <a:ext cx="305409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arguments/__init__.py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train.py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render.py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metrics.py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convert.py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full_eval.py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278892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9169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建议阅读路径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47888" y="3264408"/>
            <a:ext cx="305409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先看参数机制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再看训练入口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最后看实战命令模板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避免只背参数表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509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适用对象：正在阅读官方 gaussian-splatting 仓库、准备复现实验或二次开发的工程/科研同学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项目命令行入口：不是一个脚本，而是一条实验流水线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数据准备、训练、渲染、评测、批量实验分别由不同脚本负责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49A078"/>
          </a:solidFill>
          <a:ln w="12700">
            <a:solidFill>
              <a:srgbClr val="49A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14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convert.py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原始图片 → COLMAP/SfM 数据结构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2395728"/>
            <a:ext cx="246888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18288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3A78B8"/>
          </a:solidFill>
          <a:ln w="12700">
            <a:solidFill>
              <a:srgbClr val="3A7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2814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train.py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3127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COLMAP/Synthetic 数据 → 3D Gaussian 模型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2472" y="2395728"/>
            <a:ext cx="246888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7C6CEB"/>
          </a:solidFill>
          <a:ln w="12700">
            <a:solidFill>
              <a:srgbClr val="7C6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14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render.py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127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训练模型 → train/test 渲染图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42832" y="2395728"/>
            <a:ext cx="246888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81160" y="18288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2814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metrics.py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3127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渲染图 + GT → SSIM/PSNR/LPIPS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5166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28853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full_eval.py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4636008"/>
            <a:ext cx="48371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 train → render → metrics 串成批量评测脚本；用于 MipNeRF360 / Tanks&amp;Temples / Deep Blending 等标准实验。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160520"/>
            <a:ext cx="5166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28853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SIBR Viewer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73952" y="4636008"/>
            <a:ext cx="48371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远程 viewer 连接训练进程；实时 viewer 读取训练好的 model_path，用于交互式查看 Gaussian 场景。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5715000"/>
            <a:ext cx="5577840" cy="292608"/>
          </a:xfrm>
          <a:prstGeom prst="roundRect">
            <a:avLst>
              <a:gd name="adj" fmla="val 12500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576986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先把命令按“实验阶段”归类，参数就不容易混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参数系统的骨架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DE7F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PDF 的核心结论：仓库不是手写几十个 add_argument，而是用 ParamGroup 把类属性自动翻译成命令行参数。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argparse 在仓库里承担的角色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把终端输入的字符串，解析成可用点号访问的 Namespace 对象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27432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6245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四个核心接口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709928"/>
            <a:ext cx="2414016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ArgumentParser：总解析器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add_argument：注册单个参数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add_argument_group：帮助页分组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parse_args：解析为 Namespace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1280160"/>
            <a:ext cx="7818120" cy="1874520"/>
          </a:xfrm>
          <a:prstGeom prst="roundRect">
            <a:avLst>
              <a:gd name="adj" fmla="val 1951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1389888"/>
            <a:ext cx="756208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= ArgumentParser(description="Training script parameters")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= ModelParams(parser)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 OptimizationParams(parser)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 = PipelineParams(parser)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parser.parse_args(sys.argv[1:])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3474720"/>
            <a:ext cx="3749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360273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训练入口的真实行为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67912" y="3950208"/>
            <a:ext cx="341985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train.py 当前主入口直接调用 parse_args(sys.argv[1:])，并没有走 get_combined_args(parser)。因此训练时默认值由 argparse 直接补齐。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772400" y="3474720"/>
            <a:ext cx="3749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360273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为什么这点重要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36992" y="3950208"/>
            <a:ext cx="341985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如果误以为 train.py 会自动读取 cfg_args，就会错误理解“旧配置 + 新命令行”的覆盖关系。这个合并逻辑主要在 render.py 中启用。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ParamGroup：类属性就是参数声明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声明、注册、分组、提取四件事被封装在同一套机制里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3A78B8"/>
          </a:solidFill>
          <a:ln w="12700">
            <a:solidFill>
              <a:srgbClr val="3A7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子类写属性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7C6CEB"/>
          </a:solidFill>
          <a:ln w="12700">
            <a:solidFill>
              <a:srgbClr val="7C6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vars(self) 遍历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49A078"/>
          </a:solidFill>
          <a:ln w="12700">
            <a:solidFill>
              <a:srgbClr val="49A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add_argument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1417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extract(args)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53512" y="1783080"/>
            <a:ext cx="32004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50992" y="1783080"/>
            <a:ext cx="31089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48472" y="1783080"/>
            <a:ext cx="31089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" y="2560320"/>
            <a:ext cx="5303520" cy="2011680"/>
          </a:xfrm>
          <a:prstGeom prst="roundRect">
            <a:avLst>
              <a:gd name="adj" fmla="val 1818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2670048"/>
            <a:ext cx="5047488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ModelParams(ParamGroup):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self.sh_degree =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self._source_path = 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self._model_path = 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self._images = "images"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super().__init__(parser, "Loading Parameters")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514600"/>
            <a:ext cx="5029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2642616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这意味着什么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2990088"/>
            <a:ext cx="470001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这些属性不是“普通配置变量”那么简单；在调用 super().__init__ 后，它们会被自动注册到 ArgumentParser 中。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好处：参数按 Model / Pipeline / Optimization 分组，后续也能按组 extract。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9204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502005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一眼看懂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" y="5367528"/>
            <a:ext cx="103235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类属性 → 命令行参数；带下划线的类属性 → 额外生成短参数；extract(args) → 从总 Namespace 中取出本组需要的字段。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为什么有些参数有短写：下划线字段触发 shorthand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这里的下划线不是“私有变量”，而是仓库自定义的短参数标记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835640" cy="542109"/>
          </a:xfrm>
          <a:prstGeom prst="roundRect">
            <a:avLst>
              <a:gd name="adj" fmla="val 6747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0160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类属性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3341218" y="1280160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生成的命令行参数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286354" y="1234440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553" y="1280160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默认值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428689" y="1234440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7256" y="1280160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说明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162392" y="1234440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776549"/>
            <a:ext cx="10835640" cy="542109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822269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_source_path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3341218" y="1822269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--source_path / -s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86354" y="1776549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553" y="1822269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428689" y="1776549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7256" y="1822269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数据集路径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162392" y="1776549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318657"/>
            <a:ext cx="10835640" cy="542109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364377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_model_path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3341218" y="2364377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--model_path / -m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286354" y="2318657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553" y="2364377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428689" y="2318657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7256" y="2364377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模型输出/读取路径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162392" y="2318657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2860766"/>
            <a:ext cx="10835640" cy="542109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2906486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_images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3341218" y="2906486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--images / -i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286354" y="2860766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553" y="2906486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"images"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28689" y="2860766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7256" y="2906486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COLMAP 图像子目录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162392" y="2860766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3402874"/>
            <a:ext cx="10835640" cy="542109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3448594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_resolution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3341218" y="3448594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--resolution / -r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3286354" y="3402874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553" y="3448594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6428689" y="3402874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7256" y="3448594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训练前图像缩放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162392" y="3402874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3944983"/>
            <a:ext cx="10835640" cy="542109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" y="3990703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_white_background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3341218" y="3990703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--white_background / -w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3286354" y="3944983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3553" y="3990703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428689" y="3944983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17256" y="3990703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白底背景开关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162392" y="3944983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4487091"/>
            <a:ext cx="10835640" cy="542109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" y="4532811"/>
            <a:ext cx="2509114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train_test_exp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3341218" y="4532811"/>
            <a:ext cx="3050896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--train_test_exp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3286354" y="4487091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83553" y="4532811"/>
            <a:ext cx="1642262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6428689" y="4487091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17256" y="4532811"/>
            <a:ext cx="3267608" cy="46895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无短参数，仅长参数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8162392" y="4487091"/>
            <a:ext cx="0" cy="542109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29000" y="5394960"/>
            <a:ext cx="5394960" cy="292608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29000" y="5449824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记忆法：字段名前有 _，命令行里通常就有 -首字母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 与 cfg_args：为“只覆盖显式传入的参数”服务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核心矛盾：argparse 只给最终值，不直接告诉你用户是否显式输入过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207008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3502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A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sentinel=False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682496"/>
            <a:ext cx="29626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未传参数 → 真实默认值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例如 iterations=30000、eval=False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207008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33502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sentinel=True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1682496"/>
            <a:ext cx="29626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未传参数 →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让“没传”在 Namespace 中可识别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1207008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33502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C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get_combined_args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48472" y="1682496"/>
            <a:ext cx="29626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先读 cfg_args，再用命令行中非 None 的值覆盖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971800"/>
            <a:ext cx="10332720" cy="1417320"/>
          </a:xfrm>
          <a:prstGeom prst="roundRect">
            <a:avLst>
              <a:gd name="adj" fmla="val 2581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081528"/>
            <a:ext cx="10076688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merged_dict = vars(args_cfgfile).copy()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vars(args_cmdline).items():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 != None: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merged_dict[k] = 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80060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928616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训练脚本 train.py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5276088"/>
            <a:ext cx="46085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直接 parse_args，不启用 cfg_args 合并。第一次训练最稳：依赖真实默认值。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480060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928616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渲染脚本 render.py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3952" y="5276088"/>
            <a:ext cx="46085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ModelParams(parser, sentinel=True) + get_combined_args(parser)：从模型目录继承训练配置，同时允许命令行覆盖。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train.py 参数：训练主入口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DE7F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把参数分成 Loading / Optimization / Pipeline / Entry 四类，理解起来比逐项背诵更高效。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train.py：最小命令与常用实验命令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训练阶段参数最多，但大多数实验只改路径、迭代、分辨率、评测与保存策略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835640" cy="77724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252728"/>
            <a:ext cx="105796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-s &lt;COLMAP_or_Synthetic_dataset&gt;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36829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指定输出目录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715768"/>
            <a:ext cx="49286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train.py -s data/garden -m output/garden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36829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开启评测划分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8232" y="2715768"/>
            <a:ext cx="49286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train.py -s data/garden -m output/garden --eval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3133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A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降低显存压力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4178808"/>
            <a:ext cx="49286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train.py -s data/garden -m output/garden -r 4 --data_device cpu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83133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A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关闭训练 viewer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4178808"/>
            <a:ext cx="49286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train.py -s data/garden -m output/garden --disable_viewer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5166360"/>
            <a:ext cx="10835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5294376"/>
            <a:ext cx="10506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核心注意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" y="5641848"/>
            <a:ext cx="10506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如果不写 -m，训练输出会自动落到 output/&lt;随机ID&gt;；train.py 会把最终 args 保存到 model_path/cfg_args，供后续 render.py 继承。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Loading Parameters：数据与模型路径类参数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决定训练读取什么、写到哪里、图像如何加载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201400" cy="461356"/>
          </a:xfrm>
          <a:prstGeom prst="roundRect">
            <a:avLst>
              <a:gd name="adj" fmla="val 7928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124712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参数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3470148" y="1124712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默认值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415284" y="1078992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38344" y="1124712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用途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983480" y="1078992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0848" y="1124712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建议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9015984" y="1078992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540348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1586068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--source_path / -s</a:t>
            </a:r>
            <a:endParaRPr lang="en-US" sz="765" dirty="0"/>
          </a:p>
        </p:txBody>
      </p:sp>
      <p:sp>
        <p:nvSpPr>
          <p:cNvPr id="15" name="Text 13"/>
          <p:cNvSpPr/>
          <p:nvPr/>
        </p:nvSpPr>
        <p:spPr>
          <a:xfrm>
            <a:off x="3470148" y="1586068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765" dirty="0"/>
          </a:p>
        </p:txBody>
      </p:sp>
      <p:sp>
        <p:nvSpPr>
          <p:cNvPr id="16" name="Shape 14"/>
          <p:cNvSpPr/>
          <p:nvPr/>
        </p:nvSpPr>
        <p:spPr>
          <a:xfrm>
            <a:off x="3415284" y="1540348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8344" y="1586068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COLMAP 或 Synthetic NeRF 数据根目录</a:t>
            </a:r>
            <a:endParaRPr lang="en-US" sz="765" dirty="0"/>
          </a:p>
        </p:txBody>
      </p:sp>
      <p:sp>
        <p:nvSpPr>
          <p:cNvPr id="18" name="Shape 16"/>
          <p:cNvSpPr/>
          <p:nvPr/>
        </p:nvSpPr>
        <p:spPr>
          <a:xfrm>
            <a:off x="4983480" y="1540348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1586068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训练必填</a:t>
            </a:r>
            <a:endParaRPr lang="en-US" sz="765" dirty="0"/>
          </a:p>
        </p:txBody>
      </p:sp>
      <p:sp>
        <p:nvSpPr>
          <p:cNvPr id="20" name="Shape 18"/>
          <p:cNvSpPr/>
          <p:nvPr/>
        </p:nvSpPr>
        <p:spPr>
          <a:xfrm>
            <a:off x="9015984" y="1540348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001705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2047425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--model_path / -m</a:t>
            </a:r>
            <a:endParaRPr lang="en-US" sz="765" dirty="0"/>
          </a:p>
        </p:txBody>
      </p:sp>
      <p:sp>
        <p:nvSpPr>
          <p:cNvPr id="23" name="Text 21"/>
          <p:cNvSpPr/>
          <p:nvPr/>
        </p:nvSpPr>
        <p:spPr>
          <a:xfrm>
            <a:off x="3470148" y="2047425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765" dirty="0"/>
          </a:p>
        </p:txBody>
      </p:sp>
      <p:sp>
        <p:nvSpPr>
          <p:cNvPr id="24" name="Shape 22"/>
          <p:cNvSpPr/>
          <p:nvPr/>
        </p:nvSpPr>
        <p:spPr>
          <a:xfrm>
            <a:off x="3415284" y="2001705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38344" y="2047425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训练输出目录；渲染时读取模型目录</a:t>
            </a:r>
            <a:endParaRPr lang="en-US" sz="765" dirty="0"/>
          </a:p>
        </p:txBody>
      </p:sp>
      <p:sp>
        <p:nvSpPr>
          <p:cNvPr id="26" name="Shape 24"/>
          <p:cNvSpPr/>
          <p:nvPr/>
        </p:nvSpPr>
        <p:spPr>
          <a:xfrm>
            <a:off x="4983480" y="2001705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0848" y="2047425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建议显式指定</a:t>
            </a:r>
            <a:endParaRPr lang="en-US" sz="765" dirty="0"/>
          </a:p>
        </p:txBody>
      </p:sp>
      <p:sp>
        <p:nvSpPr>
          <p:cNvPr id="28" name="Shape 26"/>
          <p:cNvSpPr/>
          <p:nvPr/>
        </p:nvSpPr>
        <p:spPr>
          <a:xfrm>
            <a:off x="9015984" y="2001705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463061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2508781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--images / -i</a:t>
            </a:r>
            <a:endParaRPr lang="en-US" sz="765" dirty="0"/>
          </a:p>
        </p:txBody>
      </p:sp>
      <p:sp>
        <p:nvSpPr>
          <p:cNvPr id="31" name="Text 29"/>
          <p:cNvSpPr/>
          <p:nvPr/>
        </p:nvSpPr>
        <p:spPr>
          <a:xfrm>
            <a:off x="3470148" y="2508781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images</a:t>
            </a:r>
            <a:endParaRPr lang="en-US" sz="765" dirty="0"/>
          </a:p>
        </p:txBody>
      </p:sp>
      <p:sp>
        <p:nvSpPr>
          <p:cNvPr id="32" name="Shape 30"/>
          <p:cNvSpPr/>
          <p:nvPr/>
        </p:nvSpPr>
        <p:spPr>
          <a:xfrm>
            <a:off x="3415284" y="2463061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2508781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COLMAP 图像子目录</a:t>
            </a:r>
            <a:endParaRPr lang="en-US" sz="765" dirty="0"/>
          </a:p>
        </p:txBody>
      </p:sp>
      <p:sp>
        <p:nvSpPr>
          <p:cNvPr id="34" name="Shape 32"/>
          <p:cNvSpPr/>
          <p:nvPr/>
        </p:nvSpPr>
        <p:spPr>
          <a:xfrm>
            <a:off x="4983480" y="2463061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0848" y="2508781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如 images_2/images_4</a:t>
            </a:r>
            <a:endParaRPr lang="en-US" sz="765" dirty="0"/>
          </a:p>
        </p:txBody>
      </p:sp>
      <p:sp>
        <p:nvSpPr>
          <p:cNvPr id="36" name="Shape 34"/>
          <p:cNvSpPr/>
          <p:nvPr/>
        </p:nvSpPr>
        <p:spPr>
          <a:xfrm>
            <a:off x="9015984" y="2463061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2924417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2970137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--depths / -d</a:t>
            </a:r>
            <a:endParaRPr lang="en-US" sz="765" dirty="0"/>
          </a:p>
        </p:txBody>
      </p:sp>
      <p:sp>
        <p:nvSpPr>
          <p:cNvPr id="39" name="Text 37"/>
          <p:cNvSpPr/>
          <p:nvPr/>
        </p:nvSpPr>
        <p:spPr>
          <a:xfrm>
            <a:off x="3470148" y="2970137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765" dirty="0"/>
          </a:p>
        </p:txBody>
      </p:sp>
      <p:sp>
        <p:nvSpPr>
          <p:cNvPr id="40" name="Shape 38"/>
          <p:cNvSpPr/>
          <p:nvPr/>
        </p:nvSpPr>
        <p:spPr>
          <a:xfrm>
            <a:off x="3415284" y="292441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38344" y="2970137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深度先验目录</a:t>
            </a:r>
            <a:endParaRPr lang="en-US" sz="765" dirty="0"/>
          </a:p>
        </p:txBody>
      </p:sp>
      <p:sp>
        <p:nvSpPr>
          <p:cNvPr id="42" name="Shape 40"/>
          <p:cNvSpPr/>
          <p:nvPr/>
        </p:nvSpPr>
        <p:spPr>
          <a:xfrm>
            <a:off x="4983480" y="292441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2970137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启用深度正则时使用</a:t>
            </a:r>
            <a:endParaRPr lang="en-US" sz="765" dirty="0"/>
          </a:p>
        </p:txBody>
      </p:sp>
      <p:sp>
        <p:nvSpPr>
          <p:cNvPr id="44" name="Shape 42"/>
          <p:cNvSpPr/>
          <p:nvPr/>
        </p:nvSpPr>
        <p:spPr>
          <a:xfrm>
            <a:off x="9015984" y="292441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3385774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" y="3431494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--resolution / -r</a:t>
            </a:r>
            <a:endParaRPr lang="en-US" sz="765" dirty="0"/>
          </a:p>
        </p:txBody>
      </p:sp>
      <p:sp>
        <p:nvSpPr>
          <p:cNvPr id="47" name="Text 45"/>
          <p:cNvSpPr/>
          <p:nvPr/>
        </p:nvSpPr>
        <p:spPr>
          <a:xfrm>
            <a:off x="3470148" y="3431494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</a:t>
            </a:r>
            <a:endParaRPr lang="en-US" sz="765" dirty="0"/>
          </a:p>
        </p:txBody>
      </p:sp>
      <p:sp>
        <p:nvSpPr>
          <p:cNvPr id="48" name="Shape 46"/>
          <p:cNvSpPr/>
          <p:nvPr/>
        </p:nvSpPr>
        <p:spPr>
          <a:xfrm>
            <a:off x="3415284" y="3385774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38344" y="3431494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加载图像前缩放</a:t>
            </a:r>
            <a:endParaRPr lang="en-US" sz="765" dirty="0"/>
          </a:p>
        </p:txBody>
      </p:sp>
      <p:sp>
        <p:nvSpPr>
          <p:cNvPr id="50" name="Shape 48"/>
          <p:cNvSpPr/>
          <p:nvPr/>
        </p:nvSpPr>
        <p:spPr>
          <a:xfrm>
            <a:off x="4983480" y="3385774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0848" y="3431494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大图/低显存时常改</a:t>
            </a:r>
            <a:endParaRPr lang="en-US" sz="765" dirty="0"/>
          </a:p>
        </p:txBody>
      </p:sp>
      <p:sp>
        <p:nvSpPr>
          <p:cNvPr id="52" name="Shape 50"/>
          <p:cNvSpPr/>
          <p:nvPr/>
        </p:nvSpPr>
        <p:spPr>
          <a:xfrm>
            <a:off x="9015984" y="3385774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3847130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3892850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--white_background / -w</a:t>
            </a:r>
            <a:endParaRPr lang="en-US" sz="765" dirty="0"/>
          </a:p>
        </p:txBody>
      </p:sp>
      <p:sp>
        <p:nvSpPr>
          <p:cNvPr id="55" name="Text 53"/>
          <p:cNvSpPr/>
          <p:nvPr/>
        </p:nvSpPr>
        <p:spPr>
          <a:xfrm>
            <a:off x="3470148" y="3892850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765" dirty="0"/>
          </a:p>
        </p:txBody>
      </p:sp>
      <p:sp>
        <p:nvSpPr>
          <p:cNvPr id="56" name="Shape 54"/>
          <p:cNvSpPr/>
          <p:nvPr/>
        </p:nvSpPr>
        <p:spPr>
          <a:xfrm>
            <a:off x="3415284" y="3847130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38344" y="3892850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白色背景</a:t>
            </a:r>
            <a:endParaRPr lang="en-US" sz="765" dirty="0"/>
          </a:p>
        </p:txBody>
      </p:sp>
      <p:sp>
        <p:nvSpPr>
          <p:cNvPr id="58" name="Shape 56"/>
          <p:cNvSpPr/>
          <p:nvPr/>
        </p:nvSpPr>
        <p:spPr>
          <a:xfrm>
            <a:off x="4983480" y="3847130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70848" y="3892850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NeRF Synthetic 常用</a:t>
            </a:r>
            <a:endParaRPr lang="en-US" sz="765" dirty="0"/>
          </a:p>
        </p:txBody>
      </p:sp>
      <p:sp>
        <p:nvSpPr>
          <p:cNvPr id="60" name="Shape 58"/>
          <p:cNvSpPr/>
          <p:nvPr/>
        </p:nvSpPr>
        <p:spPr>
          <a:xfrm>
            <a:off x="9015984" y="3847130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" y="4308487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" y="4354207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--sh_degree</a:t>
            </a:r>
            <a:endParaRPr lang="en-US" sz="765" dirty="0"/>
          </a:p>
        </p:txBody>
      </p:sp>
      <p:sp>
        <p:nvSpPr>
          <p:cNvPr id="63" name="Text 61"/>
          <p:cNvSpPr/>
          <p:nvPr/>
        </p:nvSpPr>
        <p:spPr>
          <a:xfrm>
            <a:off x="3470148" y="4354207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765" dirty="0"/>
          </a:p>
        </p:txBody>
      </p:sp>
      <p:sp>
        <p:nvSpPr>
          <p:cNvPr id="64" name="Shape 62"/>
          <p:cNvSpPr/>
          <p:nvPr/>
        </p:nvSpPr>
        <p:spPr>
          <a:xfrm>
            <a:off x="3415284" y="430848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38344" y="4354207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球谐阶数</a:t>
            </a:r>
            <a:endParaRPr lang="en-US" sz="765" dirty="0"/>
          </a:p>
        </p:txBody>
      </p:sp>
      <p:sp>
        <p:nvSpPr>
          <p:cNvPr id="66" name="Shape 64"/>
          <p:cNvSpPr/>
          <p:nvPr/>
        </p:nvSpPr>
        <p:spPr>
          <a:xfrm>
            <a:off x="4983480" y="430848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70848" y="4354207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通常保持 3</a:t>
            </a:r>
            <a:endParaRPr lang="en-US" sz="765" dirty="0"/>
          </a:p>
        </p:txBody>
      </p:sp>
      <p:sp>
        <p:nvSpPr>
          <p:cNvPr id="68" name="Shape 66"/>
          <p:cNvSpPr/>
          <p:nvPr/>
        </p:nvSpPr>
        <p:spPr>
          <a:xfrm>
            <a:off x="9015984" y="430848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2920" y="4769843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" y="4815563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--eval</a:t>
            </a:r>
            <a:endParaRPr lang="en-US" sz="765" dirty="0"/>
          </a:p>
        </p:txBody>
      </p:sp>
      <p:sp>
        <p:nvSpPr>
          <p:cNvPr id="71" name="Text 69"/>
          <p:cNvSpPr/>
          <p:nvPr/>
        </p:nvSpPr>
        <p:spPr>
          <a:xfrm>
            <a:off x="3470148" y="4815563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765" dirty="0"/>
          </a:p>
        </p:txBody>
      </p:sp>
      <p:sp>
        <p:nvSpPr>
          <p:cNvPr id="72" name="Shape 70"/>
          <p:cNvSpPr/>
          <p:nvPr/>
        </p:nvSpPr>
        <p:spPr>
          <a:xfrm>
            <a:off x="3415284" y="4769843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38344" y="4815563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划分 train/test</a:t>
            </a:r>
            <a:endParaRPr lang="en-US" sz="765" dirty="0"/>
          </a:p>
        </p:txBody>
      </p:sp>
      <p:sp>
        <p:nvSpPr>
          <p:cNvPr id="74" name="Shape 72"/>
          <p:cNvSpPr/>
          <p:nvPr/>
        </p:nvSpPr>
        <p:spPr>
          <a:xfrm>
            <a:off x="4983480" y="4769843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70848" y="4815563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需要评测时打开</a:t>
            </a:r>
            <a:endParaRPr lang="en-US" sz="765" dirty="0"/>
          </a:p>
        </p:txBody>
      </p:sp>
      <p:sp>
        <p:nvSpPr>
          <p:cNvPr id="76" name="Shape 74"/>
          <p:cNvSpPr/>
          <p:nvPr/>
        </p:nvSpPr>
        <p:spPr>
          <a:xfrm>
            <a:off x="9015984" y="4769843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2920" y="5231199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7784" y="5276919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--data_device</a:t>
            </a:r>
            <a:endParaRPr lang="en-US" sz="765" dirty="0"/>
          </a:p>
        </p:txBody>
      </p:sp>
      <p:sp>
        <p:nvSpPr>
          <p:cNvPr id="79" name="Text 77"/>
          <p:cNvSpPr/>
          <p:nvPr/>
        </p:nvSpPr>
        <p:spPr>
          <a:xfrm>
            <a:off x="3470148" y="5276919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cuda</a:t>
            </a:r>
            <a:endParaRPr lang="en-US" sz="765" dirty="0"/>
          </a:p>
        </p:txBody>
      </p:sp>
      <p:sp>
        <p:nvSpPr>
          <p:cNvPr id="80" name="Shape 78"/>
          <p:cNvSpPr/>
          <p:nvPr/>
        </p:nvSpPr>
        <p:spPr>
          <a:xfrm>
            <a:off x="3415284" y="5231199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38344" y="5276919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原始图像数据所在设备</a:t>
            </a:r>
            <a:endParaRPr lang="en-US" sz="765" dirty="0"/>
          </a:p>
        </p:txBody>
      </p:sp>
      <p:sp>
        <p:nvSpPr>
          <p:cNvPr id="82" name="Shape 80"/>
          <p:cNvSpPr/>
          <p:nvPr/>
        </p:nvSpPr>
        <p:spPr>
          <a:xfrm>
            <a:off x="4983480" y="5231199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70848" y="5276919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显存紧张可改 cpu</a:t>
            </a:r>
            <a:endParaRPr lang="en-US" sz="765" dirty="0"/>
          </a:p>
        </p:txBody>
      </p:sp>
      <p:sp>
        <p:nvSpPr>
          <p:cNvPr id="84" name="Shape 82"/>
          <p:cNvSpPr/>
          <p:nvPr/>
        </p:nvSpPr>
        <p:spPr>
          <a:xfrm>
            <a:off x="9015984" y="5231199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02920" y="5692556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7784" y="5738276"/>
            <a:ext cx="282092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--train_test_exp</a:t>
            </a:r>
            <a:endParaRPr lang="en-US" sz="765" dirty="0"/>
          </a:p>
        </p:txBody>
      </p:sp>
      <p:sp>
        <p:nvSpPr>
          <p:cNvPr id="87" name="Text 85"/>
          <p:cNvSpPr/>
          <p:nvPr/>
        </p:nvSpPr>
        <p:spPr>
          <a:xfrm>
            <a:off x="3470148" y="5738276"/>
            <a:ext cx="147675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765" dirty="0"/>
          </a:p>
        </p:txBody>
      </p:sp>
      <p:sp>
        <p:nvSpPr>
          <p:cNvPr id="88" name="Shape 86"/>
          <p:cNvSpPr/>
          <p:nvPr/>
        </p:nvSpPr>
        <p:spPr>
          <a:xfrm>
            <a:off x="3415284" y="5692556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38344" y="5738276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训练/测试曝光补偿相关开关</a:t>
            </a:r>
            <a:endParaRPr lang="en-US" sz="765" dirty="0"/>
          </a:p>
        </p:txBody>
      </p:sp>
      <p:sp>
        <p:nvSpPr>
          <p:cNvPr id="90" name="Shape 88"/>
          <p:cNvSpPr/>
          <p:nvPr/>
        </p:nvSpPr>
        <p:spPr>
          <a:xfrm>
            <a:off x="4983480" y="5692556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70848" y="5738276"/>
            <a:ext cx="2596896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特殊实验启用</a:t>
            </a:r>
            <a:endParaRPr lang="en-US" sz="765" dirty="0"/>
          </a:p>
        </p:txBody>
      </p:sp>
      <p:sp>
        <p:nvSpPr>
          <p:cNvPr id="92" name="Shape 90"/>
          <p:cNvSpPr/>
          <p:nvPr/>
        </p:nvSpPr>
        <p:spPr>
          <a:xfrm>
            <a:off x="9015984" y="5692556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Optimization Parameters：训练过程与优化器参数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这组参数控制“训多久、怎么调学习率、何时增密/剪枝、损失权重是多少”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201400" cy="461356"/>
          </a:xfrm>
          <a:prstGeom prst="roundRect">
            <a:avLst>
              <a:gd name="adj" fmla="val 7928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124712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类别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2574036" y="1124712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关键参数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519172" y="1078992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6540" y="1124712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默认值/含义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551676" y="1078992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40348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586068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训练长度</a:t>
            </a:r>
            <a:endParaRPr lang="en-US" sz="765" dirty="0"/>
          </a:p>
        </p:txBody>
      </p:sp>
      <p:sp>
        <p:nvSpPr>
          <p:cNvPr id="13" name="Text 11"/>
          <p:cNvSpPr/>
          <p:nvPr/>
        </p:nvSpPr>
        <p:spPr>
          <a:xfrm>
            <a:off x="2574036" y="1586068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--iterations</a:t>
            </a:r>
            <a:endParaRPr lang="en-US" sz="765" dirty="0"/>
          </a:p>
        </p:txBody>
      </p:sp>
      <p:sp>
        <p:nvSpPr>
          <p:cNvPr id="14" name="Shape 12"/>
          <p:cNvSpPr/>
          <p:nvPr/>
        </p:nvSpPr>
        <p:spPr>
          <a:xfrm>
            <a:off x="2519172" y="1540348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6540" y="1586068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30000，总训练迭代次数</a:t>
            </a:r>
            <a:endParaRPr lang="en-US" sz="765" dirty="0"/>
          </a:p>
        </p:txBody>
      </p:sp>
      <p:sp>
        <p:nvSpPr>
          <p:cNvPr id="16" name="Shape 14"/>
          <p:cNvSpPr/>
          <p:nvPr/>
        </p:nvSpPr>
        <p:spPr>
          <a:xfrm>
            <a:off x="6551676" y="1540348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001705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2047425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位置学习率</a:t>
            </a:r>
            <a:endParaRPr lang="en-US" sz="765" dirty="0"/>
          </a:p>
        </p:txBody>
      </p:sp>
      <p:sp>
        <p:nvSpPr>
          <p:cNvPr id="19" name="Text 17"/>
          <p:cNvSpPr/>
          <p:nvPr/>
        </p:nvSpPr>
        <p:spPr>
          <a:xfrm>
            <a:off x="2574036" y="2047425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--position_lr_init / final / delay_mult / max_steps</a:t>
            </a:r>
            <a:endParaRPr lang="en-US" sz="765" dirty="0"/>
          </a:p>
        </p:txBody>
      </p:sp>
      <p:sp>
        <p:nvSpPr>
          <p:cNvPr id="20" name="Shape 18"/>
          <p:cNvSpPr/>
          <p:nvPr/>
        </p:nvSpPr>
        <p:spPr>
          <a:xfrm>
            <a:off x="2519172" y="2001705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6540" y="2047425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0.00016 → 0.0000016；30000 步衰减</a:t>
            </a:r>
            <a:endParaRPr lang="en-US" sz="765" dirty="0"/>
          </a:p>
        </p:txBody>
      </p:sp>
      <p:sp>
        <p:nvSpPr>
          <p:cNvPr id="22" name="Shape 20"/>
          <p:cNvSpPr/>
          <p:nvPr/>
        </p:nvSpPr>
        <p:spPr>
          <a:xfrm>
            <a:off x="6551676" y="2001705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463061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2508781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特征/不透明度</a:t>
            </a:r>
            <a:endParaRPr lang="en-US" sz="765" dirty="0"/>
          </a:p>
        </p:txBody>
      </p:sp>
      <p:sp>
        <p:nvSpPr>
          <p:cNvPr id="25" name="Text 23"/>
          <p:cNvSpPr/>
          <p:nvPr/>
        </p:nvSpPr>
        <p:spPr>
          <a:xfrm>
            <a:off x="2574036" y="2508781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--feature_lr / --opacity_lr</a:t>
            </a:r>
            <a:endParaRPr lang="en-US" sz="765" dirty="0"/>
          </a:p>
        </p:txBody>
      </p:sp>
      <p:sp>
        <p:nvSpPr>
          <p:cNvPr id="26" name="Shape 24"/>
          <p:cNvSpPr/>
          <p:nvPr/>
        </p:nvSpPr>
        <p:spPr>
          <a:xfrm>
            <a:off x="2519172" y="2463061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6540" y="2508781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SH 特征与 opacity 的学习率</a:t>
            </a:r>
            <a:endParaRPr lang="en-US" sz="765" dirty="0"/>
          </a:p>
        </p:txBody>
      </p:sp>
      <p:sp>
        <p:nvSpPr>
          <p:cNvPr id="28" name="Shape 26"/>
          <p:cNvSpPr/>
          <p:nvPr/>
        </p:nvSpPr>
        <p:spPr>
          <a:xfrm>
            <a:off x="6551676" y="2463061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924417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2970137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尺度/旋转</a:t>
            </a:r>
            <a:endParaRPr lang="en-US" sz="765" dirty="0"/>
          </a:p>
        </p:txBody>
      </p:sp>
      <p:sp>
        <p:nvSpPr>
          <p:cNvPr id="31" name="Text 29"/>
          <p:cNvSpPr/>
          <p:nvPr/>
        </p:nvSpPr>
        <p:spPr>
          <a:xfrm>
            <a:off x="2574036" y="2970137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--scaling_lr / --rotation_lr</a:t>
            </a:r>
            <a:endParaRPr lang="en-US" sz="765" dirty="0"/>
          </a:p>
        </p:txBody>
      </p:sp>
      <p:sp>
        <p:nvSpPr>
          <p:cNvPr id="32" name="Shape 30"/>
          <p:cNvSpPr/>
          <p:nvPr/>
        </p:nvSpPr>
        <p:spPr>
          <a:xfrm>
            <a:off x="2519172" y="292441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6540" y="2970137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控制高斯椭球尺度与旋转的优化步长</a:t>
            </a:r>
            <a:endParaRPr lang="en-US" sz="765" dirty="0"/>
          </a:p>
        </p:txBody>
      </p:sp>
      <p:sp>
        <p:nvSpPr>
          <p:cNvPr id="34" name="Shape 32"/>
          <p:cNvSpPr/>
          <p:nvPr/>
        </p:nvSpPr>
        <p:spPr>
          <a:xfrm>
            <a:off x="6551676" y="292441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385774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3431494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损失权重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2574036" y="3431494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--lambda_dssim</a:t>
            </a:r>
            <a:endParaRPr lang="en-US" sz="765" dirty="0"/>
          </a:p>
        </p:txBody>
      </p:sp>
      <p:sp>
        <p:nvSpPr>
          <p:cNvPr id="38" name="Shape 36"/>
          <p:cNvSpPr/>
          <p:nvPr/>
        </p:nvSpPr>
        <p:spPr>
          <a:xfrm>
            <a:off x="2519172" y="3385774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6540" y="3431494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0.2，SSIM 在总损失中的权重</a:t>
            </a:r>
            <a:endParaRPr lang="en-US" sz="765" dirty="0"/>
          </a:p>
        </p:txBody>
      </p:sp>
      <p:sp>
        <p:nvSpPr>
          <p:cNvPr id="40" name="Shape 38"/>
          <p:cNvSpPr/>
          <p:nvPr/>
        </p:nvSpPr>
        <p:spPr>
          <a:xfrm>
            <a:off x="6551676" y="3385774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847130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" y="3892850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增密控制</a:t>
            </a:r>
            <a:endParaRPr lang="en-US" sz="765" dirty="0"/>
          </a:p>
        </p:txBody>
      </p:sp>
      <p:sp>
        <p:nvSpPr>
          <p:cNvPr id="43" name="Text 41"/>
          <p:cNvSpPr/>
          <p:nvPr/>
        </p:nvSpPr>
        <p:spPr>
          <a:xfrm>
            <a:off x="2574036" y="3892850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--densify_from_iter / until_iter / interval</a:t>
            </a:r>
            <a:endParaRPr lang="en-US" sz="765" dirty="0"/>
          </a:p>
        </p:txBody>
      </p:sp>
      <p:sp>
        <p:nvSpPr>
          <p:cNvPr id="44" name="Shape 42"/>
          <p:cNvSpPr/>
          <p:nvPr/>
        </p:nvSpPr>
        <p:spPr>
          <a:xfrm>
            <a:off x="2519172" y="3847130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6540" y="3892850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500 开始，15000 停止，每 100 轮检查</a:t>
            </a:r>
            <a:endParaRPr lang="en-US" sz="765" dirty="0"/>
          </a:p>
        </p:txBody>
      </p:sp>
      <p:sp>
        <p:nvSpPr>
          <p:cNvPr id="46" name="Shape 44"/>
          <p:cNvSpPr/>
          <p:nvPr/>
        </p:nvSpPr>
        <p:spPr>
          <a:xfrm>
            <a:off x="6551676" y="3847130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308487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" y="4354207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剪枝阈值</a:t>
            </a:r>
            <a:endParaRPr lang="en-US" sz="765" dirty="0"/>
          </a:p>
        </p:txBody>
      </p:sp>
      <p:sp>
        <p:nvSpPr>
          <p:cNvPr id="49" name="Text 47"/>
          <p:cNvSpPr/>
          <p:nvPr/>
        </p:nvSpPr>
        <p:spPr>
          <a:xfrm>
            <a:off x="2574036" y="4354207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--densify_grad_threshold / --percent_dense</a:t>
            </a:r>
            <a:endParaRPr lang="en-US" sz="765" dirty="0"/>
          </a:p>
        </p:txBody>
      </p:sp>
      <p:sp>
        <p:nvSpPr>
          <p:cNvPr id="50" name="Shape 48"/>
          <p:cNvSpPr/>
          <p:nvPr/>
        </p:nvSpPr>
        <p:spPr>
          <a:xfrm>
            <a:off x="2519172" y="430848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6540" y="4354207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基于 2D 梯度和场景范围的密度控制</a:t>
            </a:r>
            <a:endParaRPr lang="en-US" sz="765" dirty="0"/>
          </a:p>
        </p:txBody>
      </p:sp>
      <p:sp>
        <p:nvSpPr>
          <p:cNvPr id="52" name="Shape 50"/>
          <p:cNvSpPr/>
          <p:nvPr/>
        </p:nvSpPr>
        <p:spPr>
          <a:xfrm>
            <a:off x="6551676" y="4308487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4769843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4815563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不透明度重置</a:t>
            </a:r>
            <a:endParaRPr lang="en-US" sz="765" dirty="0"/>
          </a:p>
        </p:txBody>
      </p:sp>
      <p:sp>
        <p:nvSpPr>
          <p:cNvPr id="55" name="Text 53"/>
          <p:cNvSpPr/>
          <p:nvPr/>
        </p:nvSpPr>
        <p:spPr>
          <a:xfrm>
            <a:off x="2574036" y="4815563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--opacity_reset_interval</a:t>
            </a:r>
            <a:endParaRPr lang="en-US" sz="765" dirty="0"/>
          </a:p>
        </p:txBody>
      </p:sp>
      <p:sp>
        <p:nvSpPr>
          <p:cNvPr id="56" name="Shape 54"/>
          <p:cNvSpPr/>
          <p:nvPr/>
        </p:nvSpPr>
        <p:spPr>
          <a:xfrm>
            <a:off x="2519172" y="4769843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06540" y="4815563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3000 轮重置 opacity</a:t>
            </a:r>
            <a:endParaRPr lang="en-US" sz="765" dirty="0"/>
          </a:p>
        </p:txBody>
      </p:sp>
      <p:sp>
        <p:nvSpPr>
          <p:cNvPr id="58" name="Shape 56"/>
          <p:cNvSpPr/>
          <p:nvPr/>
        </p:nvSpPr>
        <p:spPr>
          <a:xfrm>
            <a:off x="6551676" y="4769843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5231199"/>
            <a:ext cx="11201400" cy="461356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" y="5276919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深度正则</a:t>
            </a:r>
            <a:endParaRPr lang="en-US" sz="765" dirty="0"/>
          </a:p>
        </p:txBody>
      </p:sp>
      <p:sp>
        <p:nvSpPr>
          <p:cNvPr id="61" name="Text 59"/>
          <p:cNvSpPr/>
          <p:nvPr/>
        </p:nvSpPr>
        <p:spPr>
          <a:xfrm>
            <a:off x="2574036" y="5276919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--depth_l1_weight_init / final</a:t>
            </a:r>
            <a:endParaRPr lang="en-US" sz="765" dirty="0"/>
          </a:p>
        </p:txBody>
      </p:sp>
      <p:sp>
        <p:nvSpPr>
          <p:cNvPr id="62" name="Shape 60"/>
          <p:cNvSpPr/>
          <p:nvPr/>
        </p:nvSpPr>
        <p:spPr>
          <a:xfrm>
            <a:off x="2519172" y="5231199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06540" y="5276919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1.0 → 0.01，深度先验权重衰减</a:t>
            </a:r>
            <a:endParaRPr lang="en-US" sz="765" dirty="0"/>
          </a:p>
        </p:txBody>
      </p:sp>
      <p:sp>
        <p:nvSpPr>
          <p:cNvPr id="64" name="Shape 62"/>
          <p:cNvSpPr/>
          <p:nvPr/>
        </p:nvSpPr>
        <p:spPr>
          <a:xfrm>
            <a:off x="6551676" y="5231199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5692556"/>
            <a:ext cx="11201400" cy="461356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7784" y="5738276"/>
            <a:ext cx="1924812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加速优化器</a:t>
            </a:r>
            <a:endParaRPr lang="en-US" sz="765" dirty="0"/>
          </a:p>
        </p:txBody>
      </p:sp>
      <p:sp>
        <p:nvSpPr>
          <p:cNvPr id="67" name="Text 65"/>
          <p:cNvSpPr/>
          <p:nvPr/>
        </p:nvSpPr>
        <p:spPr>
          <a:xfrm>
            <a:off x="2574036" y="5738276"/>
            <a:ext cx="394106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--optimizer_type</a:t>
            </a:r>
            <a:endParaRPr lang="en-US" sz="765" dirty="0"/>
          </a:p>
        </p:txBody>
      </p:sp>
      <p:sp>
        <p:nvSpPr>
          <p:cNvPr id="68" name="Shape 66"/>
          <p:cNvSpPr/>
          <p:nvPr/>
        </p:nvSpPr>
        <p:spPr>
          <a:xfrm>
            <a:off x="2519172" y="5692556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06540" y="5738276"/>
            <a:ext cx="5061204" cy="3882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default；安装加速 rasterizer 后可 sparse_adam</a:t>
            </a:r>
            <a:endParaRPr lang="en-US" sz="765" dirty="0"/>
          </a:p>
        </p:txBody>
      </p:sp>
      <p:sp>
        <p:nvSpPr>
          <p:cNvPr id="70" name="Shape 68"/>
          <p:cNvSpPr/>
          <p:nvPr/>
        </p:nvSpPr>
        <p:spPr>
          <a:xfrm>
            <a:off x="6551676" y="5692556"/>
            <a:ext cx="0" cy="461356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+ Entry 参数：渲染后端、调试、GUI 与保存策略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这部分参数不直接定义数据，但影响训练过程的可视化、调试与中间结果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201400" cy="422910"/>
          </a:xfrm>
          <a:prstGeom prst="roundRect">
            <a:avLst>
              <a:gd name="adj" fmla="val 8649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12471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分组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2574036" y="112471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519172" y="107899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0498" y="112471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说明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215634" y="107899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01902"/>
            <a:ext cx="11201400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54762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755" dirty="0"/>
          </a:p>
        </p:txBody>
      </p:sp>
      <p:sp>
        <p:nvSpPr>
          <p:cNvPr id="13" name="Text 11"/>
          <p:cNvSpPr/>
          <p:nvPr/>
        </p:nvSpPr>
        <p:spPr>
          <a:xfrm>
            <a:off x="2574036" y="154762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--convert_SHs_python</a:t>
            </a:r>
            <a:endParaRPr lang="en-US" sz="755" dirty="0"/>
          </a:p>
        </p:txBody>
      </p:sp>
      <p:sp>
        <p:nvSpPr>
          <p:cNvPr id="14" name="Shape 12"/>
          <p:cNvSpPr/>
          <p:nvPr/>
        </p:nvSpPr>
        <p:spPr>
          <a:xfrm>
            <a:off x="2519172" y="150190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0498" y="154762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 PyTorch 计算 SH 前后向，主要用于调试/对照</a:t>
            </a:r>
            <a:endParaRPr lang="en-US" sz="755" dirty="0"/>
          </a:p>
        </p:txBody>
      </p:sp>
      <p:sp>
        <p:nvSpPr>
          <p:cNvPr id="16" name="Shape 14"/>
          <p:cNvSpPr/>
          <p:nvPr/>
        </p:nvSpPr>
        <p:spPr>
          <a:xfrm>
            <a:off x="6215634" y="150190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924812"/>
            <a:ext cx="11201400" cy="422910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197053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755" dirty="0"/>
          </a:p>
        </p:txBody>
      </p:sp>
      <p:sp>
        <p:nvSpPr>
          <p:cNvPr id="19" name="Text 17"/>
          <p:cNvSpPr/>
          <p:nvPr/>
        </p:nvSpPr>
        <p:spPr>
          <a:xfrm>
            <a:off x="2574036" y="197053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--compute_cov3D_python</a:t>
            </a:r>
            <a:endParaRPr lang="en-US" sz="755" dirty="0"/>
          </a:p>
        </p:txBody>
      </p:sp>
      <p:sp>
        <p:nvSpPr>
          <p:cNvPr id="20" name="Shape 18"/>
          <p:cNvSpPr/>
          <p:nvPr/>
        </p:nvSpPr>
        <p:spPr>
          <a:xfrm>
            <a:off x="2519172" y="192481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0498" y="197053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 PyTorch 计算 3D covariance，主要用于调试/对照</a:t>
            </a:r>
            <a:endParaRPr lang="en-US" sz="755" dirty="0"/>
          </a:p>
        </p:txBody>
      </p:sp>
      <p:sp>
        <p:nvSpPr>
          <p:cNvPr id="22" name="Shape 20"/>
          <p:cNvSpPr/>
          <p:nvPr/>
        </p:nvSpPr>
        <p:spPr>
          <a:xfrm>
            <a:off x="6215634" y="192481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347722"/>
            <a:ext cx="11201400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239344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755" dirty="0"/>
          </a:p>
        </p:txBody>
      </p:sp>
      <p:sp>
        <p:nvSpPr>
          <p:cNvPr id="25" name="Text 23"/>
          <p:cNvSpPr/>
          <p:nvPr/>
        </p:nvSpPr>
        <p:spPr>
          <a:xfrm>
            <a:off x="2574036" y="239344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--debug</a:t>
            </a:r>
            <a:endParaRPr lang="en-US" sz="755" dirty="0"/>
          </a:p>
        </p:txBody>
      </p:sp>
      <p:sp>
        <p:nvSpPr>
          <p:cNvPr id="26" name="Shape 24"/>
          <p:cNvSpPr/>
          <p:nvPr/>
        </p:nvSpPr>
        <p:spPr>
          <a:xfrm>
            <a:off x="2519172" y="234772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0498" y="239344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rasterizer 失败时输出 dump 辅助排查</a:t>
            </a:r>
            <a:endParaRPr lang="en-US" sz="755" dirty="0"/>
          </a:p>
        </p:txBody>
      </p:sp>
      <p:sp>
        <p:nvSpPr>
          <p:cNvPr id="28" name="Shape 26"/>
          <p:cNvSpPr/>
          <p:nvPr/>
        </p:nvSpPr>
        <p:spPr>
          <a:xfrm>
            <a:off x="6215634" y="234772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70632"/>
            <a:ext cx="11201400" cy="422910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281635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755" dirty="0"/>
          </a:p>
        </p:txBody>
      </p:sp>
      <p:sp>
        <p:nvSpPr>
          <p:cNvPr id="31" name="Text 29"/>
          <p:cNvSpPr/>
          <p:nvPr/>
        </p:nvSpPr>
        <p:spPr>
          <a:xfrm>
            <a:off x="2574036" y="281635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--antialiasing</a:t>
            </a:r>
            <a:endParaRPr lang="en-US" sz="755" dirty="0"/>
          </a:p>
        </p:txBody>
      </p:sp>
      <p:sp>
        <p:nvSpPr>
          <p:cNvPr id="32" name="Shape 30"/>
          <p:cNvSpPr/>
          <p:nvPr/>
        </p:nvSpPr>
        <p:spPr>
          <a:xfrm>
            <a:off x="2519172" y="277063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0498" y="281635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启用抗锯齿渲染路径</a:t>
            </a:r>
            <a:endParaRPr lang="en-US" sz="755" dirty="0"/>
          </a:p>
        </p:txBody>
      </p:sp>
      <p:sp>
        <p:nvSpPr>
          <p:cNvPr id="34" name="Shape 32"/>
          <p:cNvSpPr/>
          <p:nvPr/>
        </p:nvSpPr>
        <p:spPr>
          <a:xfrm>
            <a:off x="6215634" y="277063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193542"/>
            <a:ext cx="11201400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323926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755" dirty="0"/>
          </a:p>
        </p:txBody>
      </p:sp>
      <p:sp>
        <p:nvSpPr>
          <p:cNvPr id="37" name="Text 35"/>
          <p:cNvSpPr/>
          <p:nvPr/>
        </p:nvSpPr>
        <p:spPr>
          <a:xfrm>
            <a:off x="2574036" y="323926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--ip / --port</a:t>
            </a:r>
            <a:endParaRPr lang="en-US" sz="755" dirty="0"/>
          </a:p>
        </p:txBody>
      </p:sp>
      <p:sp>
        <p:nvSpPr>
          <p:cNvPr id="38" name="Shape 36"/>
          <p:cNvSpPr/>
          <p:nvPr/>
        </p:nvSpPr>
        <p:spPr>
          <a:xfrm>
            <a:off x="2519172" y="319354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0498" y="323926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训练进程的 network viewer 服务地址，默认 127.0.0.1:6009</a:t>
            </a:r>
            <a:endParaRPr lang="en-US" sz="755" dirty="0"/>
          </a:p>
        </p:txBody>
      </p:sp>
      <p:sp>
        <p:nvSpPr>
          <p:cNvPr id="40" name="Shape 38"/>
          <p:cNvSpPr/>
          <p:nvPr/>
        </p:nvSpPr>
        <p:spPr>
          <a:xfrm>
            <a:off x="6215634" y="319354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616452"/>
            <a:ext cx="11201400" cy="422910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" y="366217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755" dirty="0"/>
          </a:p>
        </p:txBody>
      </p:sp>
      <p:sp>
        <p:nvSpPr>
          <p:cNvPr id="43" name="Text 41"/>
          <p:cNvSpPr/>
          <p:nvPr/>
        </p:nvSpPr>
        <p:spPr>
          <a:xfrm>
            <a:off x="2574036" y="366217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--disable_viewer</a:t>
            </a:r>
            <a:endParaRPr lang="en-US" sz="755" dirty="0"/>
          </a:p>
        </p:txBody>
      </p:sp>
      <p:sp>
        <p:nvSpPr>
          <p:cNvPr id="44" name="Shape 42"/>
          <p:cNvSpPr/>
          <p:nvPr/>
        </p:nvSpPr>
        <p:spPr>
          <a:xfrm>
            <a:off x="2519172" y="361645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0498" y="366217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关闭 network viewer 服务，服务器训练常用</a:t>
            </a:r>
            <a:endParaRPr lang="en-US" sz="755" dirty="0"/>
          </a:p>
        </p:txBody>
      </p:sp>
      <p:sp>
        <p:nvSpPr>
          <p:cNvPr id="46" name="Shape 44"/>
          <p:cNvSpPr/>
          <p:nvPr/>
        </p:nvSpPr>
        <p:spPr>
          <a:xfrm>
            <a:off x="6215634" y="361645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039362"/>
            <a:ext cx="11201400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" y="408508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调试</a:t>
            </a:r>
            <a:endParaRPr lang="en-US" sz="755" dirty="0"/>
          </a:p>
        </p:txBody>
      </p:sp>
      <p:sp>
        <p:nvSpPr>
          <p:cNvPr id="49" name="Text 47"/>
          <p:cNvSpPr/>
          <p:nvPr/>
        </p:nvSpPr>
        <p:spPr>
          <a:xfrm>
            <a:off x="2574036" y="408508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--debug_from</a:t>
            </a:r>
            <a:endParaRPr lang="en-US" sz="755" dirty="0"/>
          </a:p>
        </p:txBody>
      </p:sp>
      <p:sp>
        <p:nvSpPr>
          <p:cNvPr id="50" name="Shape 48"/>
          <p:cNvSpPr/>
          <p:nvPr/>
        </p:nvSpPr>
        <p:spPr>
          <a:xfrm>
            <a:off x="2519172" y="403936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0498" y="408508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从指定迭代开始启用 debug</a:t>
            </a:r>
            <a:endParaRPr lang="en-US" sz="755" dirty="0"/>
          </a:p>
        </p:txBody>
      </p:sp>
      <p:sp>
        <p:nvSpPr>
          <p:cNvPr id="52" name="Shape 50"/>
          <p:cNvSpPr/>
          <p:nvPr/>
        </p:nvSpPr>
        <p:spPr>
          <a:xfrm>
            <a:off x="6215634" y="403936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4462272"/>
            <a:ext cx="11201400" cy="422910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450799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调试</a:t>
            </a:r>
            <a:endParaRPr lang="en-US" sz="755" dirty="0"/>
          </a:p>
        </p:txBody>
      </p:sp>
      <p:sp>
        <p:nvSpPr>
          <p:cNvPr id="55" name="Text 53"/>
          <p:cNvSpPr/>
          <p:nvPr/>
        </p:nvSpPr>
        <p:spPr>
          <a:xfrm>
            <a:off x="2574036" y="450799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--detect_anomaly</a:t>
            </a:r>
            <a:endParaRPr lang="en-US" sz="755" dirty="0"/>
          </a:p>
        </p:txBody>
      </p:sp>
      <p:sp>
        <p:nvSpPr>
          <p:cNvPr id="56" name="Shape 54"/>
          <p:cNvSpPr/>
          <p:nvPr/>
        </p:nvSpPr>
        <p:spPr>
          <a:xfrm>
            <a:off x="2519172" y="446227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0498" y="450799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启用 PyTorch autograd anomaly 检测</a:t>
            </a:r>
            <a:endParaRPr lang="en-US" sz="755" dirty="0"/>
          </a:p>
        </p:txBody>
      </p:sp>
      <p:sp>
        <p:nvSpPr>
          <p:cNvPr id="58" name="Shape 56"/>
          <p:cNvSpPr/>
          <p:nvPr/>
        </p:nvSpPr>
        <p:spPr>
          <a:xfrm>
            <a:off x="6215634" y="446227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4885182"/>
            <a:ext cx="11201400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" y="493090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日志</a:t>
            </a:r>
            <a:endParaRPr lang="en-US" sz="755" dirty="0"/>
          </a:p>
        </p:txBody>
      </p:sp>
      <p:sp>
        <p:nvSpPr>
          <p:cNvPr id="61" name="Text 59"/>
          <p:cNvSpPr/>
          <p:nvPr/>
        </p:nvSpPr>
        <p:spPr>
          <a:xfrm>
            <a:off x="2574036" y="493090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--quiet</a:t>
            </a:r>
            <a:endParaRPr lang="en-US" sz="755" dirty="0"/>
          </a:p>
        </p:txBody>
      </p:sp>
      <p:sp>
        <p:nvSpPr>
          <p:cNvPr id="62" name="Shape 60"/>
          <p:cNvSpPr/>
          <p:nvPr/>
        </p:nvSpPr>
        <p:spPr>
          <a:xfrm>
            <a:off x="2519172" y="488518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70498" y="493090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减少标准输出</a:t>
            </a:r>
            <a:endParaRPr lang="en-US" sz="755" dirty="0"/>
          </a:p>
        </p:txBody>
      </p:sp>
      <p:sp>
        <p:nvSpPr>
          <p:cNvPr id="64" name="Shape 62"/>
          <p:cNvSpPr/>
          <p:nvPr/>
        </p:nvSpPr>
        <p:spPr>
          <a:xfrm>
            <a:off x="6215634" y="488518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5308092"/>
            <a:ext cx="11201400" cy="422910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7784" y="535381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保存/测试</a:t>
            </a:r>
            <a:endParaRPr lang="en-US" sz="755" dirty="0"/>
          </a:p>
        </p:txBody>
      </p:sp>
      <p:sp>
        <p:nvSpPr>
          <p:cNvPr id="67" name="Text 65"/>
          <p:cNvSpPr/>
          <p:nvPr/>
        </p:nvSpPr>
        <p:spPr>
          <a:xfrm>
            <a:off x="2574036" y="535381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--test_iterations / --save_iterations</a:t>
            </a:r>
            <a:endParaRPr lang="en-US" sz="755" dirty="0"/>
          </a:p>
        </p:txBody>
      </p:sp>
      <p:sp>
        <p:nvSpPr>
          <p:cNvPr id="68" name="Shape 66"/>
          <p:cNvSpPr/>
          <p:nvPr/>
        </p:nvSpPr>
        <p:spPr>
          <a:xfrm>
            <a:off x="2519172" y="530809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70498" y="535381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多个迭代值，使用空格分隔</a:t>
            </a:r>
            <a:endParaRPr lang="en-US" sz="755" dirty="0"/>
          </a:p>
        </p:txBody>
      </p:sp>
      <p:sp>
        <p:nvSpPr>
          <p:cNvPr id="70" name="Shape 68"/>
          <p:cNvSpPr/>
          <p:nvPr/>
        </p:nvSpPr>
        <p:spPr>
          <a:xfrm>
            <a:off x="6215634" y="530809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2920" y="5731002"/>
            <a:ext cx="11201400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" y="5776722"/>
            <a:ext cx="192481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断点</a:t>
            </a:r>
            <a:endParaRPr lang="en-US" sz="755" dirty="0"/>
          </a:p>
        </p:txBody>
      </p:sp>
      <p:sp>
        <p:nvSpPr>
          <p:cNvPr id="73" name="Text 71"/>
          <p:cNvSpPr/>
          <p:nvPr/>
        </p:nvSpPr>
        <p:spPr>
          <a:xfrm>
            <a:off x="2574036" y="5776722"/>
            <a:ext cx="3605022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--checkpoint_iterations / --start_checkpoint</a:t>
            </a:r>
            <a:endParaRPr lang="en-US" sz="755" dirty="0"/>
          </a:p>
        </p:txBody>
      </p:sp>
      <p:sp>
        <p:nvSpPr>
          <p:cNvPr id="74" name="Shape 72"/>
          <p:cNvSpPr/>
          <p:nvPr/>
        </p:nvSpPr>
        <p:spPr>
          <a:xfrm>
            <a:off x="2519172" y="573100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0498" y="5776722"/>
            <a:ext cx="5397246" cy="3497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保存/恢复 .pth checkpoint</a:t>
            </a:r>
            <a:endParaRPr lang="en-US" sz="755" dirty="0"/>
          </a:p>
        </p:txBody>
      </p:sp>
      <p:sp>
        <p:nvSpPr>
          <p:cNvPr id="76" name="Shape 74"/>
          <p:cNvSpPr/>
          <p:nvPr/>
        </p:nvSpPr>
        <p:spPr>
          <a:xfrm>
            <a:off x="6215634" y="5731002"/>
            <a:ext cx="0" cy="422910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保存、测试、断点：三类 iteration 参数别混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它们都接收一个或多个整数，但触发行为完全不同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167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--test_iterations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664208"/>
            <a:ext cx="30540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触发训练过程中的验证评测。默认：7000、30000。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写法：--test_iterations 1000 5000 10000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407408" y="118872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3167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A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--save_iterations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664208"/>
            <a:ext cx="30540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触发保存 Gaussian 模型。默认：7000、30000，并额外 append(args.iterations)。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129016" y="118872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3167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--checkpoint_iterations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93608" y="1664208"/>
            <a:ext cx="30540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保存可恢复训练的 .pth checkpoint。默认空列表，需要用户显式传入。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10561320" cy="9144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813048"/>
            <a:ext cx="103052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-s data/garden -m output/garden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--iterations 30000 --test_iterations 7000 30000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--save_iterations 7000 30000 --checkpoint_iterations 15000 30000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202936"/>
            <a:ext cx="1023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细节提示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5550408"/>
            <a:ext cx="1023213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默认情况下 save_iterations 会出现 [7000, 30000, 30000]。这基本无害，因为后续是判断 iteration in saving_iterations，而不是循环列表重复保存。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 / metrics / convert 参数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DE7F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训练之后，渲染和评测会复用模型目录中的 cfg_args；数据预处理则由 convert.py 调 COLMAP 和 ImageMagick。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render.py 与 metrics.py：评测流程的后半段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render.py 生成图像，metrics.py 读取图像计算指标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7101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标准评测三步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618488"/>
            <a:ext cx="49743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train.py -s &lt;data&gt; -m &lt;model&gt; --eval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render.py -m &lt;model&gt;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 metrics.py -m &lt;model&gt;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10972800" cy="463731"/>
          </a:xfrm>
          <a:prstGeom prst="roundRect">
            <a:avLst>
              <a:gd name="adj" fmla="val 7887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560320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脚本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624328" y="2560320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参数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569464" y="2514600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2560320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作用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190488" y="2514600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978331"/>
            <a:ext cx="109728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024051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render.py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624328" y="3024051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--model_path / -m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569464" y="2978331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024051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模型目录；也是读取 cfg_args 的关键路径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190488" y="2978331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442063"/>
            <a:ext cx="10972800" cy="463731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487783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render.py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624328" y="3487783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--iteration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569464" y="3442063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3487783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加载指定迭代；默认 -1 表示最新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190488" y="3442063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905794"/>
            <a:ext cx="109728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3951514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render.py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624328" y="3951514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--skip_train / --skip_test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569464" y="3905794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3951514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跳过训练集或测试集渲染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190488" y="3905794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69526"/>
            <a:ext cx="10972800" cy="463731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4415246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render.py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2624328" y="4415246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--quiet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569464" y="4369526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4415246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减少输出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190488" y="4369526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833257"/>
            <a:ext cx="10972800" cy="463731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" y="4878977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render.py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624328" y="4878977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--source_path / -s 等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569464" y="4833257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5352" y="4878977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可覆盖 cfg_args 中继承的数据路径/图像路径/白底等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190488" y="4833257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" y="5296989"/>
            <a:ext cx="10972800" cy="463731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" y="5342709"/>
            <a:ext cx="188366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metrics.py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2624328" y="5342709"/>
            <a:ext cx="3529584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--model_paths / -m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569464" y="5296989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5342709"/>
            <a:ext cx="5285232" cy="39057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一个或多个模型目录，空格分隔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190488" y="5296989"/>
            <a:ext cx="0" cy="463731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114300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127101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C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render.py 能少写参数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28232" y="1618488"/>
            <a:ext cx="49743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它使用 get_combined_args(parser)：先从 model_path/cfg_args 继承训练配置，再用命令行显式传入值覆盖。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convert.py：把原始图片转成项目可训练的数据结构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输入 &lt;location&gt;/input，输出 images + sparse/0 的 COLMAP 格式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835640" cy="749808"/>
          </a:xfrm>
          <a:prstGeom prst="roundRect">
            <a:avLst>
              <a:gd name="adj" fmla="val 4878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225296"/>
            <a:ext cx="10579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convert.py -s &lt;location&gt; [--resize]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76272"/>
            <a:ext cx="10835640" cy="405765"/>
          </a:xfrm>
          <a:prstGeom prst="roundRect">
            <a:avLst>
              <a:gd name="adj" fmla="val 9014"/>
            </a:avLst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221992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参数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4316425" y="2221992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默认值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261561" y="217627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6840" y="2221992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作用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211976" y="217627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582037"/>
            <a:ext cx="10835640" cy="405765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627757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--source_path / -s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316425" y="2627757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required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261561" y="258203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6840" y="2627757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原始图片与输出数据所在根目录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211976" y="258203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987802"/>
            <a:ext cx="10835640" cy="405765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033522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--no_gpu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316425" y="3033522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261561" y="298780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6840" y="3033522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COLMAP 特征提取/匹配不使用 GPU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211976" y="298780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393567"/>
            <a:ext cx="10835640" cy="405765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439287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--skip_matching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4316425" y="3439287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261561" y="339356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6840" y="3439287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跳过 COLMAP 匹配，适用于已有 distorted/sparse/0 的情况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211976" y="339356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3799332"/>
            <a:ext cx="10835640" cy="405765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" y="3845052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--camera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4316425" y="3845052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OPENCV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261561" y="379933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6840" y="3845052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COLMAP 前期匹配使用的相机模型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6211976" y="379933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205097"/>
            <a:ext cx="10835640" cy="405765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4250817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--resize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4316425" y="4250817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False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4261561" y="420509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6840" y="4250817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 ImageMagick 生成 images_2 / images_4 / images_8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6211976" y="420509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4610862"/>
            <a:ext cx="10835640" cy="405765"/>
          </a:xfrm>
          <a:prstGeom prst="rect">
            <a:avLst/>
          </a:prstGeom>
          <a:solidFill>
            <a:srgbClr val="F8FBFE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" y="4656582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--colmap_executable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4316425" y="4656582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4261561" y="461086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6840" y="4656582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指定 COLMAP 可执行文件路径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6211976" y="4610862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" y="5016627"/>
            <a:ext cx="10835640" cy="405765"/>
          </a:xfrm>
          <a:prstGeom prst="rect">
            <a:avLst/>
          </a:prstGeom>
          <a:solidFill>
            <a:srgbClr val="FFFFFF"/>
          </a:solidFill>
          <a:ln w="5080">
            <a:solidFill>
              <a:srgbClr val="D6E0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" y="5062347"/>
            <a:ext cx="3484321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3B4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--magick_executable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4316425" y="5062347"/>
            <a:ext cx="1858975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""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4261561" y="501662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6840" y="5062347"/>
            <a:ext cx="5218024" cy="33261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指定 ImageMagick 可执行文件路径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6211976" y="5016627"/>
            <a:ext cx="0" cy="405765"/>
          </a:xfrm>
          <a:prstGeom prst="line">
            <a:avLst/>
          </a:prstGeom>
          <a:noFill/>
          <a:ln w="5080">
            <a:solidFill>
              <a:srgbClr val="D6E0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" y="5650992"/>
            <a:ext cx="10835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" y="5779008"/>
            <a:ext cx="10506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0392" y="6126480"/>
            <a:ext cx="10506456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自己采集图片/视频帧时，先用 convert.py 完成 COLMAP SfM 与去畸变，再进入 train.py。已有标准 COLMAP 数据集时可直接训练。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full_eval.py 与 Viewer：批量实验和交互查看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这些不是训练必需，但做论文复现、效果展示时很常用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71016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full_eval.py 常用参数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618488"/>
            <a:ext cx="51114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--skip_training / --skip_rendering / --skip_metrics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--output_path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--mipnerf360 / -m360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--tanksandtemples / -tat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--deepblending / -db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--use_depth / --use_expcomp / --fast / --aa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271016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Viewer 常用参数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19672" y="1618488"/>
            <a:ext cx="48828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Network Viewer：--ip、--port、-s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Real-Time Viewer：-m、--iteration、-s、--rendering-size、--device、--no_interop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10652760" cy="9144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767328"/>
            <a:ext cx="1039672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full_eval.py -m360 &lt;mipnerf360&gt; -tat &lt;tanks_temples&gt; -db &lt;deep_blending&gt;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full_eval.py -o &lt;pretrained_models&gt; --skip_training -m360 &lt;...&gt; -tat &lt;...&gt; -db &lt;...&gt;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983480"/>
            <a:ext cx="10652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11149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理解方式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5458968"/>
            <a:ext cx="103235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full_eval.py 是“流程编排器”：根据参数决定是否训练、渲染、算指标；Viewer 是“交互观察器”：训练中远程查看，或训练后实时浏览。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实战命令模板：按目标直接套用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复现实验时建议从这些模板开始，再逐步微调优化参数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97280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07008"/>
            <a:ext cx="10716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第一次训练：显式写 -s 与 -m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783080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892808"/>
            <a:ext cx="10716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-s /data/garden -m output/garden --disable_viewer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697480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807208"/>
            <a:ext cx="10716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用 train/test split 做评测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3383280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493008"/>
            <a:ext cx="10716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-s /data/garden -m output/garden --eval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render.py -m output/garden --skip_train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metrics.py -m output/garden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4507992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617720"/>
            <a:ext cx="10716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从 checkpoint 继续训练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5193792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12700">
            <a:solidFill>
              <a:srgbClr val="31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5303520"/>
            <a:ext cx="10716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-s /data/garden -m output/garden --start_checkpoint output/garden/chkpnt15000.pth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最容易踩坑的 7 个点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这些问题大多来自“默认值、显式传参、配置继承”的边界没有分清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2471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61288" y="10789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train.py 不读 cfg_args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61288" y="1371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训练主入口是 parse_args，不是 get_combined_args。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85800" y="208483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61288" y="20391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render.py 会继承 cfg_args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61288" y="2331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少写 -s/-i 等参数通常没问题，但路径变化时要显式覆盖。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85800" y="304495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61288" y="29992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布尔参数是开关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61288" y="3291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例如 --eval、--white_background，写了才 True。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400507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6908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61288" y="39593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短参数来自下划线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1288" y="4251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_source_path → -s；没有下划线就没有短写。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263640" y="112471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1887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39128" y="10789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save_iterations 默认重复 30000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39128" y="1371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基本无害，但理解日志时别误判。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263640" y="208483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39128" y="20391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resolution=-1 有自动缩放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39128" y="2331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输入图太大时会自动降到约 1.6K 宽；强制原图用 -r 1。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263640" y="3044952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1089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39128" y="29992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data_device=cpu 可省显存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39128" y="3291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高分辨率/大数据集可尝试，但训练会略慢。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85800" y="532180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449824"/>
            <a:ext cx="10597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" y="5797296"/>
            <a:ext cx="10597896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先分清脚本阶段，再分清参数分组，最后分清“真实默认值 / cfg_args 文件值 / 本次命令行显式值”。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总结：参数系统的主线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77240"/>
            <a:ext cx="640080" cy="45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704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80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把所有细节压缩成三句话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08176"/>
            <a:ext cx="10277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注册主线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755648"/>
            <a:ext cx="10277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ParamGroup 子类先声明属性；父类通过 vars(self) 自动注册；下划线字段额外生成短参数。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459736"/>
            <a:ext cx="10277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A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训练主线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807208"/>
            <a:ext cx="10277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train.py 把参数分成 Model / Optimization / Pipeline，再补充入口级参数；当前训练入口直接 parse_args。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11296"/>
            <a:ext cx="10277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复用主线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3858768"/>
            <a:ext cx="10277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render.py 使用 sentinel=True + get_combined_args，从 cfg_args 继承训练配置，并允许命令行显式覆盖。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837176"/>
            <a:ext cx="10277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5184648"/>
            <a:ext cx="102778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用户上传 PDF：《ArgumentParser / argparse 问答总结》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B465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GitHub：graphdeco-inria/gaussian-splatting，重点参考 arguments/__init__.py、train.py、render.py、metrics.py、convert.py、full_eval.py、README.md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imS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Gaussian Splatting 项目命令行参数解析</dc:title>
  <dc:subject>Gaussian Splatting command-line arguments</dc:subject>
  <dc:creator>OpenAI</dc:creator>
  <cp:lastModifiedBy>OpenAI</cp:lastModifiedBy>
  <cp:revision>1</cp:revision>
  <dcterms:created xsi:type="dcterms:W3CDTF">2026-04-24T01:28:55Z</dcterms:created>
  <dcterms:modified xsi:type="dcterms:W3CDTF">2026-04-24T01:28:55Z</dcterms:modified>
</cp:coreProperties>
</file>