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76" r:id="rId3"/>
    <p:sldId id="277" r:id="rId5"/>
    <p:sldId id="256" r:id="rId6"/>
    <p:sldId id="257" r:id="rId7"/>
    <p:sldId id="258" r:id="rId8"/>
    <p:sldId id="278" r:id="rId9"/>
    <p:sldId id="259" r:id="rId10"/>
    <p:sldId id="260" r:id="rId11"/>
    <p:sldId id="261" r:id="rId12"/>
    <p:sldId id="279" r:id="rId13"/>
    <p:sldId id="284" r:id="rId14"/>
    <p:sldId id="262" r:id="rId15"/>
    <p:sldId id="263" r:id="rId16"/>
    <p:sldId id="264" r:id="rId17"/>
    <p:sldId id="280" r:id="rId18"/>
    <p:sldId id="265" r:id="rId19"/>
    <p:sldId id="266" r:id="rId20"/>
    <p:sldId id="267" r:id="rId21"/>
    <p:sldId id="281" r:id="rId22"/>
    <p:sldId id="268" r:id="rId23"/>
    <p:sldId id="269" r:id="rId24"/>
    <p:sldId id="270" r:id="rId25"/>
    <p:sldId id="282" r:id="rId26"/>
    <p:sldId id="271" r:id="rId27"/>
    <p:sldId id="272" r:id="rId28"/>
    <p:sldId id="273" r:id="rId29"/>
    <p:sldId id="283" r:id="rId30"/>
    <p:sldId id="274" r:id="rId31"/>
    <p:sldId id="275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这周我的主要工作是深读了 3</a:t>
            </a:r>
            <a:r>
              <a:rPr lang="en-US" altLang="zh-CN"/>
              <a:t>D Gaussian Splatting </a:t>
            </a:r>
            <a:r>
              <a:rPr lang="zh-CN" altLang="en-US"/>
              <a:t>的官方源码。这周主要把训练流程里几个基础模块理清楚：参数系统、</a:t>
            </a:r>
            <a:r>
              <a:rPr lang="en-US" altLang="zh-CN"/>
              <a:t>TensorBoard </a:t>
            </a:r>
            <a:r>
              <a:rPr lang="zh-CN" altLang="en-US"/>
              <a:t>日志、</a:t>
            </a:r>
            <a:r>
              <a:rPr lang="en-US" altLang="zh-CN"/>
              <a:t>GaussianModel，</a:t>
            </a:r>
            <a:r>
              <a:rPr lang="zh-CN" altLang="en-US"/>
              <a:t>以及 </a:t>
            </a:r>
            <a:r>
              <a:rPr lang="en-US" altLang="zh-CN"/>
              <a:t>Scene </a:t>
            </a:r>
            <a:r>
              <a:rPr lang="zh-CN" altLang="en-US"/>
              <a:t>数据加载。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FM_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649224"/>
            <a:ext cx="115214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601968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3.png"/><Relationship Id="rId16" Type="http://schemas.openxmlformats.org/officeDocument/2006/relationships/image" Target="../media/image32.png"/><Relationship Id="rId15" Type="http://schemas.openxmlformats.org/officeDocument/2006/relationships/image" Target="../media/image31.png"/><Relationship Id="rId14" Type="http://schemas.openxmlformats.org/officeDocument/2006/relationships/image" Target="../media/image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png"/><Relationship Id="rId8" Type="http://schemas.openxmlformats.org/officeDocument/2006/relationships/image" Target="../media/image49.png"/><Relationship Id="rId7" Type="http://schemas.openxmlformats.org/officeDocument/2006/relationships/image" Target="../media/image48.png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66.png"/><Relationship Id="rId14" Type="http://schemas.openxmlformats.org/officeDocument/2006/relationships/image" Target="../media/image65.png"/><Relationship Id="rId13" Type="http://schemas.openxmlformats.org/officeDocument/2006/relationships/image" Target="../media/image64.png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93.png"/><Relationship Id="rId13" Type="http://schemas.openxmlformats.org/officeDocument/2006/relationships/image" Target="../media/image92.png"/><Relationship Id="rId12" Type="http://schemas.openxmlformats.org/officeDocument/2006/relationships/image" Target="../media/image91.png"/><Relationship Id="rId11" Type="http://schemas.openxmlformats.org/officeDocument/2006/relationships/image" Target="../media/image90.png"/><Relationship Id="rId10" Type="http://schemas.openxmlformats.org/officeDocument/2006/relationships/image" Target="../media/image89.png"/><Relationship Id="rId1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1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06.png"/><Relationship Id="rId4" Type="http://schemas.openxmlformats.org/officeDocument/2006/relationships/image" Target="../media/image105.svg"/><Relationship Id="rId3" Type="http://schemas.openxmlformats.org/officeDocument/2006/relationships/image" Target="../media/image104.svg"/><Relationship Id="rId2" Type="http://schemas.openxmlformats.org/officeDocument/2006/relationships/image" Target="../media/image103.svg"/><Relationship Id="rId1" Type="http://schemas.openxmlformats.org/officeDocument/2006/relationships/image" Target="../media/image10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85"/>
            <a:ext cx="12191999" cy="6858000"/>
          </a:xfrm>
          <a:prstGeom prst="rect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594360"/>
            <a:ext cx="3291840" cy="3291840"/>
          </a:xfrm>
          <a:prstGeom prst="ellipse">
            <a:avLst/>
          </a:prstGeom>
          <a:solidFill>
            <a:srgbClr val="23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280160"/>
            <a:ext cx="1737360" cy="1737360"/>
          </a:xfrm>
          <a:prstGeom prst="ellipse">
            <a:avLst/>
          </a:prstGeom>
          <a:solidFill>
            <a:srgbClr val="1E94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640080" y="5623560"/>
            <a:ext cx="2194560" cy="2194560"/>
          </a:xfrm>
          <a:prstGeom prst="ellipse">
            <a:avLst/>
          </a:prstGeom>
          <a:solidFill>
            <a:srgbClr val="6C57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2545080" cy="7988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YaHei" panose="020B0503020204020204" charset="-122"/>
              </a:defRPr>
            </a:pPr>
            <a:r>
              <a:rPr lang="en-US"/>
              <a:t>SfM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空间几何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94360"/>
            <a:ext cx="113842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 panose="020B0503020204020204" charset="-122"/>
              </a:rPr>
              <a:t>点积 · 叉积 · 视觉几何基础</a:t>
            </a:r>
            <a:endParaRPr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84280" y="656539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Microsoft YaHei" panose="020B0503020204020204" charset="-122"/>
              </a:rPr>
              <a:t>1</a:t>
            </a:r>
            <a:endParaRPr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C00000"/>
                </a:solidFill>
                <a:latin typeface="Microsoft YaHei" panose="020B0503020204020204" charset="-122"/>
              </a:rPr>
              <a:t>点积与叉积</a:t>
            </a:r>
            <a:r>
              <a:rPr sz="2800" b="1">
                <a:solidFill>
                  <a:srgbClr val="000000"/>
                </a:solidFill>
                <a:latin typeface="Microsoft YaHei" panose="020B0503020204020204" charset="-122"/>
              </a:rPr>
              <a:t>：相关程度 vs 张开面积</a:t>
            </a:r>
            <a:endParaRPr sz="2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914400"/>
            <a:ext cx="5440680" cy="5257800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3912" y="939165"/>
            <a:ext cx="5440680" cy="5257800"/>
          </a:xfrm>
          <a:prstGeom prst="roundRect">
            <a:avLst/>
          </a:prstGeom>
          <a:solidFill>
            <a:srgbClr val="FFF9F7"/>
          </a:solidFill>
          <a:ln w="12700">
            <a:solidFill>
              <a:srgbClr val="EB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241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5A9C"/>
                </a:solidFill>
                <a:latin typeface="Microsoft YaHei" panose="020B0503020204020204" charset="-122"/>
              </a:rPr>
              <a:t>点积 Dot Product</a:t>
            </a:r>
            <a:endParaRPr sz="1800" b="1">
              <a:solidFill>
                <a:srgbClr val="155A9C"/>
              </a:solidFill>
              <a:latin typeface="Microsoft YaHei" panose="020B0503020204020204" charset="-122"/>
            </a:endParaRPr>
          </a:p>
        </p:txBody>
      </p:sp>
      <p:pic>
        <p:nvPicPr>
          <p:cNvPr id="10" name="Picture 9" descr="formula_dot_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320" y="1417320"/>
            <a:ext cx="2573020" cy="337820"/>
          </a:xfrm>
          <a:prstGeom prst="rect">
            <a:avLst/>
          </a:prstGeom>
        </p:spPr>
      </p:pic>
      <p:pic>
        <p:nvPicPr>
          <p:cNvPr id="11" name="Picture 10" descr="diag_d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20" y="2075180"/>
            <a:ext cx="3931920" cy="25647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2512" y="10241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A1414"/>
                </a:solidFill>
                <a:latin typeface="Microsoft YaHei" panose="020B0503020204020204" charset="-122"/>
              </a:rPr>
              <a:t>叉积 Cross Product</a:t>
            </a:r>
            <a:endParaRPr sz="1800" b="1">
              <a:solidFill>
                <a:srgbClr val="AA1414"/>
              </a:solidFill>
              <a:latin typeface="Microsoft YaHei" panose="020B0503020204020204" charset="-122"/>
            </a:endParaRPr>
          </a:p>
        </p:txBody>
      </p:sp>
      <p:pic>
        <p:nvPicPr>
          <p:cNvPr id="15" name="Picture 14" descr="formula_cross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385" y="1438275"/>
            <a:ext cx="2891155" cy="342265"/>
          </a:xfrm>
          <a:prstGeom prst="rect">
            <a:avLst/>
          </a:prstGeom>
        </p:spPr>
      </p:pic>
      <p:pic>
        <p:nvPicPr>
          <p:cNvPr id="16" name="Picture 15" descr="diag_cr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75" y="1365250"/>
            <a:ext cx="4107180" cy="299847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320" y="4959985"/>
            <a:ext cx="3162300" cy="35242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6995" y="4482465"/>
            <a:ext cx="2539365" cy="93027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1295" y="4482465"/>
            <a:ext cx="2112645" cy="89916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1295" y="5381625"/>
            <a:ext cx="1445260" cy="471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849630"/>
            <a:ext cx="9174480" cy="55956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11480" y="594360"/>
            <a:ext cx="113842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 panose="020B0503020204020204" charset="-122"/>
              </a:rPr>
              <a:t>点积 · 叉积 · 视觉几何基础</a:t>
            </a:r>
            <a:endParaRPr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84280" y="656539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  <a:latin typeface="Microsoft YaHei" panose="020B0503020204020204" charset="-122"/>
              </a:rPr>
              <a:t>2</a:t>
            </a:r>
            <a:endParaRPr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83773" y="109728"/>
            <a:ext cx="268541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Microsoft YaHei" panose="020B0503020204020204" charset="-122"/>
              </a:rPr>
              <a:t>二维直线</a:t>
            </a:r>
            <a:r>
              <a:rPr lang="zh-CN" sz="2800" b="1">
                <a:solidFill>
                  <a:srgbClr val="000000"/>
                </a:solidFill>
                <a:latin typeface="Microsoft YaHei" panose="020B0503020204020204" charset="-122"/>
              </a:rPr>
              <a:t>求交点</a:t>
            </a:r>
            <a:endParaRPr lang="zh-CN" sz="2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pic>
        <p:nvPicPr>
          <p:cNvPr id="11" name="Picture 10" descr="diag_lines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505" y="1460500"/>
            <a:ext cx="2788920" cy="1726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594360"/>
            <a:ext cx="11384280" cy="3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4572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FFFFF"/>
                </a:solidFill>
                <a:latin typeface="Microsoft YaHei" panose="020B0503020204020204" charset="-122"/>
              </a:rPr>
              <a:t>点积 · 叉积 · 视觉几何基础</a:t>
            </a:r>
            <a:endParaRPr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682730" y="6565392"/>
            <a:ext cx="250190" cy="229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900">
                <a:solidFill>
                  <a:srgbClr val="FFFFFF"/>
                </a:solidFill>
                <a:latin typeface="Microsoft YaHei" panose="020B0503020204020204" charset="-122"/>
              </a:rPr>
              <a:t>3</a:t>
            </a:r>
            <a:endParaRPr lang="en-US" sz="900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5"/>
          <p:cNvSpPr txBox="1"/>
          <p:nvPr/>
        </p:nvSpPr>
        <p:spPr>
          <a:xfrm>
            <a:off x="4783773" y="109728"/>
            <a:ext cx="268541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sz="2800" b="1">
                <a:solidFill>
                  <a:srgbClr val="000000"/>
                </a:solidFill>
                <a:latin typeface="Microsoft YaHei" panose="020B0503020204020204" charset="-122"/>
              </a:rPr>
              <a:t>三</a:t>
            </a:r>
            <a:r>
              <a:rPr sz="2800" b="1">
                <a:solidFill>
                  <a:srgbClr val="000000"/>
                </a:solidFill>
                <a:latin typeface="Microsoft YaHei" panose="020B0503020204020204" charset="-122"/>
              </a:rPr>
              <a:t>维直线</a:t>
            </a:r>
            <a:r>
              <a:rPr lang="zh-CN" sz="2800" b="1">
                <a:solidFill>
                  <a:srgbClr val="000000"/>
                </a:solidFill>
                <a:latin typeface="Microsoft YaHei" panose="020B0503020204020204" charset="-122"/>
              </a:rPr>
              <a:t>求交点</a:t>
            </a:r>
            <a:endParaRPr lang="zh-CN" sz="2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pic>
        <p:nvPicPr>
          <p:cNvPr id="30" name="Picture 4" descr="line_intersection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" y="810260"/>
            <a:ext cx="5742940" cy="4260850"/>
          </a:xfrm>
          <a:prstGeom prst="rect">
            <a:avLst/>
          </a:prstGeom>
        </p:spPr>
      </p:pic>
      <p:sp>
        <p:nvSpPr>
          <p:cNvPr id="31" name="TextBox 5"/>
          <p:cNvSpPr txBox="1"/>
          <p:nvPr/>
        </p:nvSpPr>
        <p:spPr>
          <a:xfrm>
            <a:off x="777240" y="4590288"/>
            <a:ext cx="443484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B40000"/>
                </a:solidFill>
                <a:latin typeface="Microsoft YaHei" panose="020B0503020204020204" charset="-122"/>
              </a:rPr>
              <a:t>几何直觉</a:t>
            </a:r>
            <a:endParaRPr sz="1800" b="1">
              <a:solidFill>
                <a:srgbClr val="B40000"/>
              </a:solidFill>
              <a:latin typeface="Microsoft YaHei" panose="020B0503020204020204" charset="-122"/>
            </a:endParaRPr>
          </a:p>
        </p:txBody>
      </p:sp>
      <p:sp>
        <p:nvSpPr>
          <p:cNvPr id="32" name="TextBox 6"/>
          <p:cNvSpPr txBox="1"/>
          <p:nvPr/>
        </p:nvSpPr>
        <p:spPr>
          <a:xfrm>
            <a:off x="777240" y="4956048"/>
            <a:ext cx="4480560" cy="8046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320" b="0">
                <a:solidFill>
                  <a:srgbClr val="1E1E1E"/>
                </a:solidFill>
                <a:latin typeface="Microsoft YaHei" panose="020B0503020204020204" charset="-122"/>
              </a:rPr>
              <a:t>• 方向向量 p、q 张成一个平面
• p×q 给出该平面的法向 n
• 交点不是 p×q；还需要直线位置 A、B</a:t>
            </a:r>
            <a:endParaRPr sz="1320" b="0">
              <a:solidFill>
                <a:srgbClr val="1E1E1E"/>
              </a:solidFill>
              <a:latin typeface="Microsoft YaHei" panose="020B0503020204020204" charset="-122"/>
            </a:endParaRPr>
          </a:p>
        </p:txBody>
      </p:sp>
      <p:sp>
        <p:nvSpPr>
          <p:cNvPr id="33" name="Rounded Rectangle 7"/>
          <p:cNvSpPr/>
          <p:nvPr/>
        </p:nvSpPr>
        <p:spPr>
          <a:xfrm>
            <a:off x="5715000" y="1385570"/>
            <a:ext cx="5989320" cy="658368"/>
          </a:xfrm>
          <a:prstGeom prst="roundRect">
            <a:avLst/>
          </a:prstGeom>
          <a:solidFill>
            <a:srgbClr val="EEF4FB"/>
          </a:solidFill>
          <a:ln w="12700">
            <a:solidFill>
              <a:srgbClr val="AA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8"/>
          <p:cNvSpPr txBox="1"/>
          <p:nvPr/>
        </p:nvSpPr>
        <p:spPr>
          <a:xfrm>
            <a:off x="5897880" y="1504442"/>
            <a:ext cx="9144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420" b="1">
                <a:solidFill>
                  <a:srgbClr val="1E5591"/>
                </a:solidFill>
                <a:latin typeface="Microsoft YaHei" panose="020B0503020204020204" charset="-122"/>
              </a:rPr>
              <a:t>模型</a:t>
            </a:r>
            <a:endParaRPr sz="1420" b="1">
              <a:solidFill>
                <a:srgbClr val="1E5591"/>
              </a:solidFill>
              <a:latin typeface="Microsoft YaHei" panose="020B0503020204020204" charset="-122"/>
            </a:endParaRPr>
          </a:p>
        </p:txBody>
      </p:sp>
      <p:pic>
        <p:nvPicPr>
          <p:cNvPr id="35" name="Picture 9" descr="f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95298"/>
            <a:ext cx="4359641" cy="301752"/>
          </a:xfrm>
          <a:prstGeom prst="rect">
            <a:avLst/>
          </a:prstGeom>
        </p:spPr>
      </p:pic>
      <p:sp>
        <p:nvSpPr>
          <p:cNvPr id="36" name="Rounded Rectangle 10"/>
          <p:cNvSpPr/>
          <p:nvPr/>
        </p:nvSpPr>
        <p:spPr>
          <a:xfrm>
            <a:off x="5715000" y="2788412"/>
            <a:ext cx="5989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11"/>
          <p:cNvSpPr txBox="1"/>
          <p:nvPr/>
        </p:nvSpPr>
        <p:spPr>
          <a:xfrm>
            <a:off x="5897880" y="289814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B40000"/>
                </a:solidFill>
                <a:latin typeface="Microsoft YaHei" panose="020B0503020204020204" charset="-122"/>
              </a:rPr>
              <a:t>① 判别</a:t>
            </a:r>
            <a:endParaRPr sz="1600" b="1">
              <a:solidFill>
                <a:srgbClr val="B40000"/>
              </a:solidFill>
              <a:latin typeface="Microsoft YaHei" panose="020B0503020204020204" charset="-122"/>
            </a:endParaRPr>
          </a:p>
        </p:txBody>
      </p:sp>
      <p:pic>
        <p:nvPicPr>
          <p:cNvPr id="38" name="Picture 12" descr="f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79852"/>
            <a:ext cx="1365145" cy="329184"/>
          </a:xfrm>
          <a:prstGeom prst="rect">
            <a:avLst/>
          </a:prstGeom>
        </p:spPr>
      </p:pic>
      <p:pic>
        <p:nvPicPr>
          <p:cNvPr id="39" name="Picture 13" descr="f_co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309620"/>
            <a:ext cx="3175657" cy="292608"/>
          </a:xfrm>
          <a:prstGeom prst="rect">
            <a:avLst/>
          </a:prstGeom>
        </p:spPr>
      </p:pic>
      <p:sp>
        <p:nvSpPr>
          <p:cNvPr id="40" name="TextBox 14"/>
          <p:cNvSpPr txBox="1"/>
          <p:nvPr/>
        </p:nvSpPr>
        <p:spPr>
          <a:xfrm>
            <a:off x="6080760" y="3647948"/>
            <a:ext cx="5349240" cy="23774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80" b="0">
                <a:solidFill>
                  <a:srgbClr val="5A5A5A"/>
                </a:solidFill>
                <a:latin typeface="Microsoft YaHei" panose="020B0503020204020204" charset="-122"/>
              </a:rPr>
              <a:t>若 (B−A)·n ≠ 0：两线异面，不存在严格交点；若 p×q=0：平行/重合。</a:t>
            </a:r>
            <a:endParaRPr sz="108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sp>
        <p:nvSpPr>
          <p:cNvPr id="41" name="Rounded Rectangle 15"/>
          <p:cNvSpPr/>
          <p:nvPr/>
        </p:nvSpPr>
        <p:spPr>
          <a:xfrm>
            <a:off x="5715000" y="4687062"/>
            <a:ext cx="5989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6"/>
          <p:cNvSpPr txBox="1"/>
          <p:nvPr/>
        </p:nvSpPr>
        <p:spPr>
          <a:xfrm>
            <a:off x="5897880" y="4796790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B40000"/>
                </a:solidFill>
                <a:latin typeface="Microsoft YaHei" panose="020B0503020204020204" charset="-122"/>
              </a:rPr>
              <a:t>② 求解</a:t>
            </a:r>
            <a:endParaRPr sz="1600" b="1">
              <a:solidFill>
                <a:srgbClr val="B40000"/>
              </a:solidFill>
              <a:latin typeface="Microsoft YaHei" panose="020B0503020204020204" charset="-122"/>
            </a:endParaRPr>
          </a:p>
        </p:txBody>
      </p:sp>
      <p:pic>
        <p:nvPicPr>
          <p:cNvPr id="43" name="Picture 17" descr="f_sol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144262"/>
            <a:ext cx="4926932" cy="384048"/>
          </a:xfrm>
          <a:prstGeom prst="rect">
            <a:avLst/>
          </a:prstGeom>
        </p:spPr>
      </p:pic>
      <p:sp>
        <p:nvSpPr>
          <p:cNvPr id="44" name="TextBox 18"/>
          <p:cNvSpPr txBox="1"/>
          <p:nvPr/>
        </p:nvSpPr>
        <p:spPr>
          <a:xfrm>
            <a:off x="6080760" y="5555741"/>
            <a:ext cx="5349240" cy="21945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080" b="0">
                <a:solidFill>
                  <a:srgbClr val="5A5A5A"/>
                </a:solidFill>
                <a:latin typeface="Microsoft YaHei" panose="020B0503020204020204" charset="-122"/>
              </a:rPr>
              <a:t>解出 s*, t* 后，代回任一条直线即可得到交点。</a:t>
            </a:r>
            <a:endParaRPr sz="108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无穷远元素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54838"/>
            <a:ext cx="7315200" cy="41148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2700" b="1">
                <a:solidFill>
                  <a:srgbClr val="0F172A"/>
                </a:solidFill>
                <a:latin typeface="Microsoft YaHei" panose="020B0503020204020204" charset="-122"/>
              </a:rPr>
              <a:t>二维 / 三维无穷远元素（齐次坐标）</a:t>
            </a:r>
            <a:endParaRPr sz="270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02920" y="996696"/>
            <a:ext cx="11183112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234440"/>
            <a:ext cx="54406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440680" cy="457200"/>
          </a:xfrm>
          <a:prstGeom prst="roundRect">
            <a:avLst/>
          </a:prstGeom>
          <a:solidFill>
            <a:srgbClr val="DBEAFE"/>
          </a:solidFill>
          <a:ln w="889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111496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Microsoft YaHei" panose="020B0503020204020204" charset="-122"/>
              </a:rPr>
              <a:t>二维射影平面  P²</a:t>
            </a:r>
            <a:endParaRPr sz="1400" b="1">
              <a:solidFill>
                <a:srgbClr val="2563EB"/>
              </a:solidFill>
              <a:latin typeface="Microsoft YaHei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234440"/>
            <a:ext cx="5440680" cy="397763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234440"/>
            <a:ext cx="5440680" cy="457200"/>
          </a:xfrm>
          <a:prstGeom prst="roundRect">
            <a:avLst/>
          </a:prstGeom>
          <a:solidFill>
            <a:srgbClr val="D1FAE5"/>
          </a:solidFill>
          <a:ln w="889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325880"/>
            <a:ext cx="5111496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400" b="1">
                <a:solidFill>
                  <a:srgbClr val="059669"/>
                </a:solidFill>
                <a:latin typeface="Microsoft YaHei" panose="020B0503020204020204" charset="-122"/>
              </a:rPr>
              <a:t>三维射影空间  P³</a:t>
            </a:r>
            <a:endParaRPr sz="1400" b="1">
              <a:solidFill>
                <a:srgbClr val="059669"/>
              </a:solidFill>
              <a:latin typeface="Microsoft YaHei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" y="1773936"/>
            <a:ext cx="960120" cy="310896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1828800"/>
            <a:ext cx="850392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 panose="020B0503020204020204" charset="-122"/>
              </a:rPr>
              <a:t>齐次点</a:t>
            </a:r>
            <a:endParaRPr sz="1050" b="1">
              <a:solidFill>
                <a:srgbClr val="2563EB"/>
              </a:solidFill>
              <a:latin typeface="Microsoft YaHei" panose="020B0503020204020204" charset="-122"/>
            </a:endParaRPr>
          </a:p>
        </p:txBody>
      </p:sp>
      <p:pic>
        <p:nvPicPr>
          <p:cNvPr id="15" name="Picture 14" descr="5ca490e6b969b0afb8bd5c9770da985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19" y="1745996"/>
            <a:ext cx="535974" cy="475488"/>
          </a:xfrm>
          <a:prstGeom prst="rect">
            <a:avLst/>
          </a:prstGeom>
        </p:spPr>
      </p:pic>
      <p:pic>
        <p:nvPicPr>
          <p:cNvPr id="16" name="Picture 15" descr="6a428b080ecd3754f7f704d3172b74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798601"/>
            <a:ext cx="2103120" cy="2615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4672" y="2359152"/>
            <a:ext cx="1261872" cy="310896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414016"/>
            <a:ext cx="1152143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 panose="020B0503020204020204" charset="-122"/>
              </a:rPr>
              <a:t>无穷远点</a:t>
            </a:r>
            <a:endParaRPr sz="1050" b="1">
              <a:solidFill>
                <a:srgbClr val="2563EB"/>
              </a:solidFill>
              <a:latin typeface="Microsoft YaHei" panose="020B0503020204020204" charset="-122"/>
            </a:endParaRPr>
          </a:p>
        </p:txBody>
      </p:sp>
      <p:pic>
        <p:nvPicPr>
          <p:cNvPr id="19" name="Picture 18" descr="f433dc5ecd83581a93540658106d3a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2240280"/>
            <a:ext cx="1729350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12848" y="2816352"/>
            <a:ext cx="3246120" cy="219456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120" b="0">
                <a:solidFill>
                  <a:srgbClr val="334155"/>
                </a:solidFill>
                <a:latin typeface="Microsoft YaHei" panose="020B0503020204020204" charset="-122"/>
              </a:rPr>
              <a:t>当 X,Y 固定：表示二维中的一个方向</a:t>
            </a:r>
            <a:endParaRPr sz="1120" b="0">
              <a:solidFill>
                <a:srgbClr val="334155"/>
              </a:solidFill>
              <a:latin typeface="Microsoft YaHei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" y="3200400"/>
            <a:ext cx="1261872" cy="310896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255264"/>
            <a:ext cx="1152143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Microsoft YaHei" panose="020B0503020204020204" charset="-122"/>
              </a:rPr>
              <a:t>无穷远线</a:t>
            </a:r>
            <a:endParaRPr sz="1050" b="1">
              <a:solidFill>
                <a:srgbClr val="2563EB"/>
              </a:solidFill>
              <a:latin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12848" y="3200400"/>
            <a:ext cx="2651760" cy="22860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120" b="0">
                <a:solidFill>
                  <a:srgbClr val="334155"/>
                </a:solidFill>
                <a:latin typeface="Microsoft YaHei" panose="020B0503020204020204" charset="-122"/>
              </a:rPr>
              <a:t>所有二维无穷远点组成一条线：</a:t>
            </a:r>
            <a:endParaRPr sz="1120" b="0">
              <a:solidFill>
                <a:srgbClr val="334155"/>
              </a:solidFill>
              <a:latin typeface="Microsoft YaHei" panose="020B0503020204020204" charset="-122"/>
            </a:endParaRPr>
          </a:p>
        </p:txBody>
      </p:sp>
      <p:pic>
        <p:nvPicPr>
          <p:cNvPr id="24" name="Picture 23" descr="79d18293587d97029adaf6300a9a54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3456432"/>
            <a:ext cx="558343" cy="502920"/>
          </a:xfrm>
          <a:prstGeom prst="rect">
            <a:avLst/>
          </a:prstGeom>
        </p:spPr>
      </p:pic>
      <p:pic>
        <p:nvPicPr>
          <p:cNvPr id="25" name="Picture 24" descr="6da57118923c59af4ac6e97da9b621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547872"/>
            <a:ext cx="1453174" cy="30175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4672" y="4274058"/>
            <a:ext cx="4892040" cy="576072"/>
          </a:xfrm>
          <a:prstGeom prst="roundRect">
            <a:avLst/>
          </a:prstGeom>
          <a:solidFill>
            <a:srgbClr val="F1F5F9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507992"/>
            <a:ext cx="1481328" cy="164592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 panose="020B0503020204020204" charset="-122"/>
              </a:rPr>
              <a:t>二维中：一个具体的</a:t>
            </a:r>
            <a:endParaRPr sz="10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pic>
        <p:nvPicPr>
          <p:cNvPr id="28" name="Picture 27" descr="25eff0991c8ed8276f6868663692a4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4560" y="4379976"/>
            <a:ext cx="227235" cy="411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724912" y="4507992"/>
            <a:ext cx="1051560" cy="164592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 panose="020B0503020204020204" charset="-122"/>
              </a:rPr>
              <a:t>是“点”；所有</a:t>
            </a:r>
            <a:endParaRPr sz="10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pic>
        <p:nvPicPr>
          <p:cNvPr id="30" name="Picture 29" descr="0ce289bfe432f1434762e4ab1b4e70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39" y="4525436"/>
            <a:ext cx="457200" cy="12970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206240" y="4507992"/>
            <a:ext cx="1325880" cy="164592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Microsoft YaHei" panose="020B0503020204020204" charset="-122"/>
              </a:rPr>
              <a:t>的点集合是“线”。</a:t>
            </a:r>
            <a:endParaRPr sz="10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55664" y="1773936"/>
            <a:ext cx="960120" cy="310896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7" y="1828800"/>
            <a:ext cx="850392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059669"/>
                </a:solidFill>
                <a:latin typeface="Microsoft YaHei" panose="020B0503020204020204" charset="-122"/>
              </a:rPr>
              <a:t>齐次点</a:t>
            </a:r>
            <a:endParaRPr sz="1050" b="1">
              <a:solidFill>
                <a:srgbClr val="059669"/>
              </a:solidFill>
              <a:latin typeface="Microsoft YaHei" panose="020B0503020204020204" charset="-122"/>
            </a:endParaRPr>
          </a:p>
        </p:txBody>
      </p:sp>
      <p:pic>
        <p:nvPicPr>
          <p:cNvPr id="34" name="Picture 33" descr="e11635484222d9149592ee0ee933c66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1716532"/>
            <a:ext cx="559551" cy="603504"/>
          </a:xfrm>
          <a:prstGeom prst="rect">
            <a:avLst/>
          </a:prstGeom>
        </p:spPr>
      </p:pic>
      <p:pic>
        <p:nvPicPr>
          <p:cNvPr id="35" name="Picture 34" descr="c053aa207972e33024c01b7dbdfe836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5442" y="1896060"/>
            <a:ext cx="2057400" cy="21193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455664" y="2359152"/>
            <a:ext cx="1261872" cy="310896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7" y="2414016"/>
            <a:ext cx="1152143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059669"/>
                </a:solidFill>
                <a:latin typeface="Microsoft YaHei" panose="020B0503020204020204" charset="-122"/>
              </a:rPr>
              <a:t>无穷远点</a:t>
            </a:r>
            <a:endParaRPr sz="1050" b="1">
              <a:solidFill>
                <a:srgbClr val="059669"/>
              </a:solidFill>
              <a:latin typeface="Microsoft YaHei" panose="020B0503020204020204" charset="-122"/>
            </a:endParaRPr>
          </a:p>
        </p:txBody>
      </p:sp>
      <p:pic>
        <p:nvPicPr>
          <p:cNvPr id="38" name="Picture 37" descr="1f78ec9b0726c015799d974f665c80b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2212848"/>
            <a:ext cx="1311317" cy="6035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63840" y="2816352"/>
            <a:ext cx="3383280" cy="219456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120" b="0">
                <a:solidFill>
                  <a:srgbClr val="334155"/>
                </a:solidFill>
                <a:latin typeface="Microsoft YaHei" panose="020B0503020204020204" charset="-122"/>
              </a:rPr>
              <a:t>当 X,Y,Z 固定：表示三维中的一个方向</a:t>
            </a:r>
            <a:endParaRPr sz="1120" b="0">
              <a:solidFill>
                <a:srgbClr val="334155"/>
              </a:solidFill>
              <a:latin typeface="Microsoft YaHei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55664" y="3200400"/>
            <a:ext cx="1481328" cy="310896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7" y="3255264"/>
            <a:ext cx="1371600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059669"/>
                </a:solidFill>
                <a:latin typeface="Microsoft YaHei" panose="020B0503020204020204" charset="-122"/>
              </a:rPr>
              <a:t>无穷远平面</a:t>
            </a:r>
            <a:endParaRPr sz="1050" b="1">
              <a:solidFill>
                <a:srgbClr val="059669"/>
              </a:solidFill>
              <a:latin typeface="Microsoft YaHei" panose="020B0503020204020204" charset="-122"/>
            </a:endParaRPr>
          </a:p>
        </p:txBody>
      </p:sp>
      <p:pic>
        <p:nvPicPr>
          <p:cNvPr id="42" name="Picture 41" descr="83ab6f9897079f484b8bacfb8f8b836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19872" y="3072384"/>
            <a:ext cx="496982" cy="548640"/>
          </a:xfrm>
          <a:prstGeom prst="rect">
            <a:avLst/>
          </a:prstGeom>
        </p:spPr>
      </p:pic>
      <p:pic>
        <p:nvPicPr>
          <p:cNvPr id="43" name="Picture 42" descr="8c1b4f40131ee19279fa1df0c3a0b37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81160" y="3227832"/>
            <a:ext cx="1460568" cy="2743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119872" y="3675887"/>
            <a:ext cx="3337560" cy="210312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080" b="0">
                <a:solidFill>
                  <a:srgbClr val="334155"/>
                </a:solidFill>
                <a:latin typeface="Microsoft YaHei" panose="020B0503020204020204" charset="-122"/>
              </a:rPr>
              <a:t>所有三维无穷远点组成无穷远平面。</a:t>
            </a:r>
            <a:endParaRPr sz="1080" b="0">
              <a:solidFill>
                <a:srgbClr val="334155"/>
              </a:solidFill>
              <a:latin typeface="Microsoft YaHei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55664" y="4069080"/>
            <a:ext cx="1920240" cy="310896"/>
          </a:xfrm>
          <a:prstGeom prst="roundRect">
            <a:avLst/>
          </a:prstGeom>
          <a:solidFill>
            <a:srgbClr val="ECFDF5"/>
          </a:solidFill>
          <a:ln w="889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7" y="4123944"/>
            <a:ext cx="1810512" cy="201168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050" b="1">
                <a:solidFill>
                  <a:srgbClr val="059669"/>
                </a:solidFill>
                <a:latin typeface="Microsoft YaHei" panose="020B0503020204020204" charset="-122"/>
              </a:rPr>
              <a:t>某平面的无穷远线</a:t>
            </a:r>
            <a:endParaRPr sz="1050" b="1">
              <a:solidFill>
                <a:srgbClr val="059669"/>
              </a:solidFill>
              <a:latin typeface="Microsoft YaHei" panose="020B0503020204020204" charset="-122"/>
            </a:endParaRPr>
          </a:p>
        </p:txBody>
      </p:sp>
      <p:pic>
        <p:nvPicPr>
          <p:cNvPr id="47" name="Picture 46" descr="b74673e5f2414681def3394c80bf60c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49640" y="3877056"/>
            <a:ext cx="1082149" cy="640080"/>
          </a:xfrm>
          <a:prstGeom prst="rect">
            <a:avLst/>
          </a:prstGeom>
        </p:spPr>
      </p:pic>
      <p:pic>
        <p:nvPicPr>
          <p:cNvPr id="48" name="Picture 47" descr="ddd85935f6e7d6e59cc9bb3f5ba2943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3952" y="4498848"/>
            <a:ext cx="1646071" cy="53035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548640" y="5486400"/>
            <a:ext cx="11091672" cy="960120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5632704"/>
            <a:ext cx="1234440" cy="22860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Microsoft YaHei" panose="020B0503020204020204" charset="-122"/>
              </a:rPr>
              <a:t>核心区分</a:t>
            </a:r>
            <a:endParaRPr sz="1400" b="1">
              <a:solidFill>
                <a:srgbClr val="FFFFFF"/>
              </a:solidFill>
              <a:latin typeface="Microsoft YaHei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993392" y="5641848"/>
            <a:ext cx="8778240" cy="22860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1250" b="0">
                <a:solidFill>
                  <a:srgbClr val="E0F2FE"/>
                </a:solidFill>
                <a:latin typeface="Microsoft YaHei" panose="020B0503020204020204" charset="-122"/>
              </a:rPr>
              <a:t>固定坐标是一个点；满足一个方程的一族点通常是面；满足两个独立平面约束的一族点才是线。</a:t>
            </a:r>
            <a:endParaRPr sz="1250" b="0">
              <a:solidFill>
                <a:srgbClr val="E0F2FE"/>
              </a:solidFill>
              <a:latin typeface="Microsoft YaHei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804672" y="5925312"/>
            <a:ext cx="242316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980176"/>
            <a:ext cx="320040" cy="146304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Microsoft YaHei" panose="020B0503020204020204" charset="-122"/>
              </a:rPr>
              <a:t>点：</a:t>
            </a:r>
            <a:endParaRPr sz="8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pic>
        <p:nvPicPr>
          <p:cNvPr id="54" name="Picture 53" descr="58173d1a1d11577fe3af1eaaed2c988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7008" y="5952744"/>
            <a:ext cx="932329" cy="2286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084831" y="6005576"/>
            <a:ext cx="548640" cy="146304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Microsoft YaHei" panose="020B0503020204020204" charset="-122"/>
              </a:rPr>
              <a:t>（固定）</a:t>
            </a:r>
            <a:endParaRPr sz="8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3429000" y="5925312"/>
            <a:ext cx="228600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84448" y="5980176"/>
            <a:ext cx="320040" cy="146304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Microsoft YaHei" panose="020B0503020204020204" charset="-122"/>
              </a:rPr>
              <a:t>面：</a:t>
            </a:r>
            <a:endParaRPr sz="8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pic>
        <p:nvPicPr>
          <p:cNvPr id="58" name="Picture 57" descr="ea841341df760d34fb513943d18594c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6350" y="5987415"/>
            <a:ext cx="535940" cy="150495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5907024" y="5925312"/>
            <a:ext cx="4434840" cy="31089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16752" y="5992876"/>
            <a:ext cx="320040" cy="146304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Microsoft YaHei" panose="020B0503020204020204" charset="-122"/>
              </a:rPr>
              <a:t>线：</a:t>
            </a:r>
            <a:endParaRPr sz="850" b="1">
              <a:solidFill>
                <a:srgbClr val="0F172A"/>
              </a:solidFill>
              <a:latin typeface="Microsoft YaHei" panose="020B0503020204020204" charset="-122"/>
            </a:endParaRPr>
          </a:p>
        </p:txBody>
      </p:sp>
      <p:pic>
        <p:nvPicPr>
          <p:cNvPr id="61" name="Picture 60" descr="4e6be0d4a7ff46399ec187997b874ea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6665" y="5964555"/>
            <a:ext cx="1886585" cy="216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1173968" cy="3200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E1E1E"/>
                </a:solidFill>
                <a:latin typeface="Microsoft YaHei" panose="020B0503020204020204" charset="-122"/>
              </a:defRPr>
            </a:pPr>
            <a:r>
              <a:t>无穷远点与影消线：核心公式整理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B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8076" y="1160399"/>
            <a:ext cx="11018520" cy="1490472"/>
          </a:xfrm>
          <a:prstGeom prst="round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123823"/>
            <a:ext cx="11018520" cy="14904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1123823"/>
            <a:ext cx="91440" cy="1490472"/>
          </a:xfrm>
          <a:prstGeom prst="rect">
            <a:avLst/>
          </a:prstGeom>
          <a:solidFill>
            <a:srgbClr val="19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33551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9508C"/>
                </a:solidFill>
                <a:latin typeface="Microsoft YaHei" panose="020B0503020204020204" charset="-122"/>
              </a:defRPr>
            </a:pPr>
            <a:r>
              <a:t>1  无穷远点  →  影消点</a:t>
            </a:r>
          </a:p>
        </p:txBody>
      </p:sp>
      <p:pic>
        <p:nvPicPr>
          <p:cNvPr id="11" name="Picture 10" descr="f1-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50" y="1498600"/>
            <a:ext cx="1461770" cy="1024255"/>
          </a:xfrm>
          <a:prstGeom prst="rect">
            <a:avLst/>
          </a:prstGeom>
        </p:spPr>
      </p:pic>
      <p:pic>
        <p:nvPicPr>
          <p:cNvPr id="12" name="Picture 11" descr="f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985" y="1618107"/>
            <a:ext cx="3195686" cy="685800"/>
          </a:xfrm>
          <a:prstGeom prst="rect">
            <a:avLst/>
          </a:prstGeom>
        </p:spPr>
      </p:pic>
      <p:pic>
        <p:nvPicPr>
          <p:cNvPr id="13" name="Picture 12" descr="f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685" y="1552575"/>
            <a:ext cx="2960370" cy="705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67657" y="206578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Microsoft YaHei" panose="020B0503020204020204" charset="-122"/>
              </a:defRPr>
            </a:pPr>
            <a:r>
              <a:t>平移项 t 被 0 消去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" y="2962656"/>
            <a:ext cx="11018520" cy="1335024"/>
          </a:xfrm>
          <a:prstGeom prst="round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" y="2926080"/>
            <a:ext cx="11018520" cy="13350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" y="2926080"/>
            <a:ext cx="91440" cy="1335024"/>
          </a:xfrm>
          <a:prstGeom prst="rect">
            <a:avLst/>
          </a:prstGeom>
          <a:solidFill>
            <a:srgbClr val="247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35808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47450"/>
                </a:solidFill>
                <a:latin typeface="Microsoft YaHei" panose="020B0503020204020204" charset="-122"/>
              </a:defRPr>
            </a:pPr>
            <a:r>
              <a:t>2  两个影消点确定影消线</a:t>
            </a:r>
          </a:p>
        </p:txBody>
      </p:sp>
      <p:pic>
        <p:nvPicPr>
          <p:cNvPr id="19" name="Picture 18" descr="f4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040" y="3420745"/>
            <a:ext cx="3544570" cy="41846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08076" y="4572381"/>
            <a:ext cx="11018520" cy="1719072"/>
          </a:xfrm>
          <a:prstGeom prst="roundRect">
            <a:avLst/>
          </a:prstGeom>
          <a:solidFill>
            <a:srgbClr val="E6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6072" y="4535805"/>
            <a:ext cx="11018520" cy="17190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" y="4535805"/>
            <a:ext cx="91440" cy="1719072"/>
          </a:xfrm>
          <a:prstGeom prst="rect">
            <a:avLst/>
          </a:prstGeom>
          <a:solidFill>
            <a:srgbClr val="5F41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45533"/>
            <a:ext cx="10698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F418C"/>
                </a:solidFill>
                <a:latin typeface="Microsoft YaHei" panose="020B0503020204020204" charset="-122"/>
              </a:defRPr>
            </a:pPr>
            <a:r>
              <a:t>3  影消线与平面法向量</a:t>
            </a:r>
          </a:p>
        </p:txBody>
      </p:sp>
      <p:pic>
        <p:nvPicPr>
          <p:cNvPr id="26" name="Picture 25" descr="f6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10" y="5057140"/>
            <a:ext cx="2944495" cy="337820"/>
          </a:xfrm>
          <a:prstGeom prst="rect">
            <a:avLst/>
          </a:prstGeom>
        </p:spPr>
      </p:pic>
      <p:pic>
        <p:nvPicPr>
          <p:cNvPr id="27" name="Picture 26" descr="f7-1.png"/>
          <p:cNvPicPr>
            <a:picLocks noChangeAspect="1"/>
          </p:cNvPicPr>
          <p:nvPr/>
        </p:nvPicPr>
        <p:blipFill>
          <a:blip r:embed="rId6"/>
          <a:srcRect r="45716"/>
          <a:stretch>
            <a:fillRect/>
          </a:stretch>
        </p:blipFill>
        <p:spPr>
          <a:xfrm>
            <a:off x="3529330" y="5598795"/>
            <a:ext cx="3746500" cy="44323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882127" y="5057013"/>
            <a:ext cx="3154680" cy="896112"/>
          </a:xfrm>
          <a:prstGeom prst="roundRect">
            <a:avLst/>
          </a:prstGeom>
          <a:solidFill>
            <a:srgbClr val="FAF8FF"/>
          </a:solidFill>
          <a:ln w="15240">
            <a:solidFill>
              <a:srgbClr val="5F4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5157597"/>
            <a:ext cx="2788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F418C"/>
                </a:solidFill>
                <a:latin typeface="Microsoft YaHei" panose="020B0503020204020204" charset="-122"/>
              </a:defRPr>
            </a:pPr>
            <a:r>
              <a:t>相机坐标系简化</a:t>
            </a:r>
          </a:p>
        </p:txBody>
      </p:sp>
      <p:pic>
        <p:nvPicPr>
          <p:cNvPr id="30" name="Picture 29" descr="f8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2" y="5468493"/>
            <a:ext cx="2697480" cy="284690"/>
          </a:xfrm>
          <a:prstGeom prst="rect">
            <a:avLst/>
          </a:prstGeom>
        </p:spPr>
      </p:pic>
      <p:pic>
        <p:nvPicPr>
          <p:cNvPr id="20" name="Picture 19" descr="f5-1.png"/>
          <p:cNvPicPr>
            <a:picLocks noChangeAspect="1"/>
          </p:cNvPicPr>
          <p:nvPr/>
        </p:nvPicPr>
        <p:blipFill>
          <a:blip r:embed="rId8"/>
          <a:srcRect r="64252"/>
          <a:stretch>
            <a:fillRect/>
          </a:stretch>
        </p:blipFill>
        <p:spPr>
          <a:xfrm>
            <a:off x="1209040" y="5499735"/>
            <a:ext cx="1008380" cy="304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无穷远点 / 影消点：由方向约束到相机内参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676656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同一平面内两组平行线的影消点，可转化为空间方向夹角约束；垂直方向给出内参方程。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12014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1  影消点 → 空间方向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435608"/>
            <a:ext cx="36576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0" descr="/mnt/data/latex_eq_png/eq_1/eq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798" y="1508760"/>
            <a:ext cx="1517005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121408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相机坐标系下可令 R = I</a:t>
            </a:r>
            <a:endParaRPr lang="en-US" sz="1150" dirty="0"/>
          </a:p>
        </p:txBody>
      </p:sp>
      <p:pic>
        <p:nvPicPr>
          <p:cNvPr id="10" name="Image 1" descr="/mnt/data/latex_eq_png/eq_2/eq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415" y="2395728"/>
            <a:ext cx="1046913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1143000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2  两个方向的夹角约束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26280" y="1435608"/>
            <a:ext cx="71323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13" name="Image 2" descr="/mnt/data/latex_eq_png/eq_3/eq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791" y="1499870"/>
            <a:ext cx="4772418" cy="1417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66928" y="3090672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3  绝对二次曲线像：把 K 合并进 ω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66928" y="3383280"/>
            <a:ext cx="58064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16" name="Image 3" descr="/mnt/data/latex_eq_png/eq_4/eq_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785" y="3456305"/>
            <a:ext cx="2927985" cy="291465"/>
          </a:xfrm>
          <a:prstGeom prst="rect">
            <a:avLst/>
          </a:prstGeom>
        </p:spPr>
      </p:pic>
      <p:pic>
        <p:nvPicPr>
          <p:cNvPr id="17" name="Image 4" descr="/mnt/data/latex_eq_png/eq_5/eq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833" y="3898011"/>
            <a:ext cx="2451005" cy="5669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37960" y="309067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4  垂直方向约束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537960" y="3383280"/>
            <a:ext cx="51206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20" name="Image 5" descr="/mnt/data/latex_eq_png/eq_6/eq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493135"/>
            <a:ext cx="3420745" cy="32639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11696" y="4169664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每找到一对互相垂直的空间方向，就得到一条关于相机内参的约束。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566928" y="4782312"/>
            <a:ext cx="5806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5  内参矩阵模型与常用简化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66928" y="5074920"/>
            <a:ext cx="58064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24" name="Image 6" descr="/mnt/data/latex_eq_png/eq_7/eq_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10" y="5074920"/>
            <a:ext cx="2441605" cy="1051560"/>
          </a:xfrm>
          <a:prstGeom prst="rect">
            <a:avLst/>
          </a:prstGeom>
        </p:spPr>
      </p:pic>
      <p:pic>
        <p:nvPicPr>
          <p:cNvPr id="25" name="Image 7" descr="/mnt/data/latex_eq_png/eq_8/eq_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1575" y="5175504"/>
            <a:ext cx="1867195" cy="87782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456432" y="6236208"/>
            <a:ext cx="2651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零斜切 + 方形像素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6537960" y="4782312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6  平面法向恢复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537960" y="5074920"/>
            <a:ext cx="51206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pic>
        <p:nvPicPr>
          <p:cNvPr id="29" name="Image 8" descr="/mnt/data/latex_eq_png/eq_9/eq_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9080" y="5440680"/>
            <a:ext cx="1778000" cy="38925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11696" y="5852160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anose="020B0500000000000000" pitchFamily="34" charset="-122"/>
                <a:ea typeface="Noto Sans CJK SC" panose="020B0500000000000000" pitchFamily="34" charset="-122"/>
                <a:cs typeface="Noto Sans CJK SC" panose="020B0500000000000000" pitchFamily="34" charset="-120"/>
              </a:rPr>
              <a:t>当 K 已知，平面影消线 / 地平线可直接恢复该平面的法向方向。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502920" y="6583680"/>
            <a:ext cx="112014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极几何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图片 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" y="332105"/>
            <a:ext cx="12191365" cy="6355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64592"/>
            <a:ext cx="1179576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Microsoft YaHei" panose="020B0503020204020204" charset="-122"/>
              </a:rPr>
              <a:t>极几何约束——本质矩阵推导</a:t>
            </a:r>
            <a:endParaRPr sz="26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20040" y="786384"/>
            <a:ext cx="11567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56032" y="1005840"/>
            <a:ext cx="5650992" cy="4956048"/>
          </a:xfrm>
          <a:prstGeom prst="rect">
            <a:avLst/>
          </a:prstGeom>
          <a:solidFill>
            <a:srgbClr val="FCFCFC"/>
          </a:solidFill>
          <a:ln w="19050">
            <a:solidFill>
              <a:srgbClr val="2B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99632" y="1005840"/>
            <a:ext cx="5742432" cy="4956048"/>
          </a:xfrm>
          <a:prstGeom prst="rect">
            <a:avLst/>
          </a:prstGeom>
          <a:solidFill>
            <a:srgbClr val="FCFCFC"/>
          </a:solidFill>
          <a:ln w="19050">
            <a:solidFill>
              <a:srgbClr val="379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14300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 panose="020B0503020204020204" charset="-122"/>
              </a:rPr>
              <a:t>1. 前置公式：坐标变换与叉乘矩阵</a:t>
            </a:r>
            <a:endParaRPr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" y="15544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05AAB"/>
                </a:solidFill>
                <a:latin typeface="Microsoft YaHei" panose="020B0503020204020204" charset="-122"/>
              </a:rPr>
              <a:t>（1）坐标变换关系</a:t>
            </a:r>
            <a:endParaRPr sz="14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设同一点在 O₁ 下为 Q，在 O₂ 下为 Q′：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9" name="Picture 8" descr="v3_coord_fw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472" y="1810512"/>
            <a:ext cx="1147529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22402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反变换：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11" name="Picture 10" descr="v3_coord_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130552"/>
            <a:ext cx="1829109" cy="384047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512064" y="2679192"/>
            <a:ext cx="5138928" cy="0"/>
          </a:xfrm>
          <a:prstGeom prst="line">
            <a:avLst/>
          </a:prstGeom>
          <a:ln w="12700">
            <a:solidFill>
              <a:srgbClr val="A1B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" y="283464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05AAB"/>
                </a:solidFill>
                <a:latin typeface="Microsoft YaHei" panose="020B0503020204020204" charset="-122"/>
              </a:rPr>
              <a:t>（2）旋转保持叉乘关系</a:t>
            </a:r>
            <a:endParaRPr sz="14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pic>
        <p:nvPicPr>
          <p:cNvPr id="14" name="Picture 13" descr="v3_cross_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136392"/>
            <a:ext cx="4518692" cy="3840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037" y="3684778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令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16" name="Picture 15" descr="v3_a_r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80" y="3566795"/>
            <a:ext cx="805180" cy="31940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3391" y="3657473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得到：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18" name="Picture 17" descr="v3_rel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185" y="3493135"/>
            <a:ext cx="2089150" cy="392430"/>
          </a:xfrm>
          <a:prstGeom prst="rect">
            <a:avLst/>
          </a:prstGeom>
        </p:spPr>
      </p:pic>
      <p:pic>
        <p:nvPicPr>
          <p:cNvPr id="19" name="Picture 18" descr="v3_rel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3931920"/>
            <a:ext cx="2211337" cy="365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867912" y="4965192"/>
            <a:ext cx="1874519" cy="731520"/>
          </a:xfrm>
          <a:prstGeom prst="rect">
            <a:avLst/>
          </a:prstGeom>
          <a:solidFill>
            <a:srgbClr val="F8F8F8"/>
          </a:solidFill>
          <a:ln w="12700">
            <a:solidFill>
              <a:srgbClr val="819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9352" y="5047488"/>
            <a:ext cx="1691640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000" b="0">
                <a:solidFill>
                  <a:srgbClr val="1E1E1E"/>
                </a:solidFill>
                <a:latin typeface="Microsoft YaHei" panose="020B0503020204020204" charset="-122"/>
              </a:rPr>
              <a:t>适用条件：
已标定相机；
p, p′ 为归一化坐标</a:t>
            </a:r>
            <a:endParaRPr sz="1000" b="0">
              <a:solidFill>
                <a:srgbClr val="1E1E1E"/>
              </a:solidFill>
              <a:latin typeface="Microsoft YaHei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64224" y="114300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 panose="020B0503020204020204" charset="-122"/>
              </a:rPr>
              <a:t>2. 极平面约束 → 本质矩阵形式</a:t>
            </a:r>
            <a:endParaRPr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7104" y="155448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318B41"/>
                </a:solidFill>
                <a:latin typeface="Microsoft YaHei" panose="020B0503020204020204" charset="-122"/>
              </a:rPr>
              <a:t>（1）在 O₁ 坐标系中组织极平面</a:t>
            </a:r>
            <a:endParaRPr sz="1400" b="1">
              <a:solidFill>
                <a:srgbClr val="318B41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38544" y="1901952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p′ 在 O₁ 中的坐标：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638544" y="2267712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O₂ 在 O₁ 中的坐标：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38544" y="2633472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极平面法向量：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38544" y="2999232"/>
            <a:ext cx="1874519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因为 p 在极平面内，故：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28" name="Picture 27" descr="v3_pp_o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52" y="1828800"/>
            <a:ext cx="1045984" cy="320040"/>
          </a:xfrm>
          <a:prstGeom prst="rect">
            <a:avLst/>
          </a:prstGeom>
        </p:spPr>
      </p:pic>
      <p:pic>
        <p:nvPicPr>
          <p:cNvPr id="29" name="Picture 28" descr="v3_o2_o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52" y="2212848"/>
            <a:ext cx="579797" cy="292608"/>
          </a:xfrm>
          <a:prstGeom prst="rect">
            <a:avLst/>
          </a:prstGeom>
        </p:spPr>
      </p:pic>
      <p:pic>
        <p:nvPicPr>
          <p:cNvPr id="30" name="Picture 29" descr="v3_nor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2569464"/>
            <a:ext cx="999149" cy="32003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8961120" y="3236976"/>
            <a:ext cx="2212848" cy="420624"/>
          </a:xfrm>
          <a:prstGeom prst="rect">
            <a:avLst/>
          </a:prstGeom>
          <a:solidFill>
            <a:srgbClr val="FCFCFC"/>
          </a:solidFill>
          <a:ln w="1270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v3_constrain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9136" y="3300984"/>
            <a:ext cx="1370541" cy="265176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6455664" y="3785616"/>
            <a:ext cx="5184648" cy="0"/>
          </a:xfrm>
          <a:prstGeom prst="line">
            <a:avLst/>
          </a:prstGeom>
          <a:ln w="12700">
            <a:solidFill>
              <a:srgbClr val="8DD2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47104" y="388620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318B41"/>
                </a:solidFill>
                <a:latin typeface="Microsoft YaHei" panose="020B0503020204020204" charset="-122"/>
              </a:rPr>
              <a:t>（2）展开为本质矩阵</a:t>
            </a:r>
            <a:endParaRPr sz="1400" b="1">
              <a:solidFill>
                <a:srgbClr val="318B41"/>
              </a:solidFill>
              <a:latin typeface="Microsoft YaHei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56832" y="420624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318B41"/>
                </a:solidFill>
                <a:latin typeface="Microsoft YaHei" panose="020B0503020204020204" charset="-122"/>
              </a:rPr>
              <a:t>1</a:t>
            </a:r>
            <a:endParaRPr sz="1100" b="1">
              <a:solidFill>
                <a:srgbClr val="318B41"/>
              </a:solidFill>
              <a:latin typeface="Microsoft YaHei" panose="020B0503020204020204" charset="-122"/>
            </a:endParaRPr>
          </a:p>
        </p:txBody>
      </p:sp>
      <p:pic>
        <p:nvPicPr>
          <p:cNvPr id="36" name="Picture 35" descr="v3_s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8584" y="4160520"/>
            <a:ext cx="1208314" cy="228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56832" y="451713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318B41"/>
                </a:solidFill>
                <a:latin typeface="Microsoft YaHei" panose="020B0503020204020204" charset="-122"/>
              </a:rPr>
              <a:t>2</a:t>
            </a:r>
            <a:endParaRPr sz="1100" b="1">
              <a:solidFill>
                <a:srgbClr val="318B41"/>
              </a:solidFill>
              <a:latin typeface="Microsoft YaHei" panose="020B0503020204020204" charset="-122"/>
            </a:endParaRPr>
          </a:p>
        </p:txBody>
      </p:sp>
      <p:pic>
        <p:nvPicPr>
          <p:cNvPr id="38" name="Picture 37" descr="v3_s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8584" y="4471416"/>
            <a:ext cx="1205802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656832" y="4828031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318B41"/>
                </a:solidFill>
                <a:latin typeface="Microsoft YaHei" panose="020B0503020204020204" charset="-122"/>
              </a:rPr>
              <a:t>3</a:t>
            </a:r>
            <a:endParaRPr sz="1100" b="1">
              <a:solidFill>
                <a:srgbClr val="318B41"/>
              </a:solidFill>
              <a:latin typeface="Microsoft YaHei" panose="020B0503020204020204" charset="-122"/>
            </a:endParaRPr>
          </a:p>
        </p:txBody>
      </p:sp>
      <p:pic>
        <p:nvPicPr>
          <p:cNvPr id="40" name="Picture 39" descr="v3_s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58584" y="4782312"/>
            <a:ext cx="2142810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656832" y="530352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令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986016" y="5193792"/>
            <a:ext cx="1572768" cy="411480"/>
          </a:xfrm>
          <a:prstGeom prst="rect">
            <a:avLst/>
          </a:prstGeom>
          <a:solidFill>
            <a:srgbClr val="FCFCFC"/>
          </a:solidFill>
          <a:ln w="1270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v3_Ede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68896" y="5257800"/>
            <a:ext cx="716124" cy="228600"/>
          </a:xfrm>
          <a:prstGeom prst="rect">
            <a:avLst/>
          </a:prstGeom>
        </p:spPr>
      </p:pic>
      <p:sp>
        <p:nvSpPr>
          <p:cNvPr id="44" name="Down Arrow 43"/>
          <p:cNvSpPr/>
          <p:nvPr/>
        </p:nvSpPr>
        <p:spPr>
          <a:xfrm rot="16200000">
            <a:off x="8897112" y="5212079"/>
            <a:ext cx="320040" cy="384048"/>
          </a:xfrm>
          <a:prstGeom prst="downArrow">
            <a:avLst/>
          </a:prstGeom>
          <a:solidFill>
            <a:srgbClr val="F8F8F8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09760" y="5193792"/>
            <a:ext cx="1463040" cy="411480"/>
          </a:xfrm>
          <a:prstGeom prst="rect">
            <a:avLst/>
          </a:prstGeom>
          <a:solidFill>
            <a:srgbClr val="FCFCFC"/>
          </a:solidFill>
          <a:ln w="1270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v3_Eeq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2640" y="5257800"/>
            <a:ext cx="638001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64592"/>
            <a:ext cx="11795760" cy="43891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600" b="1">
                <a:solidFill>
                  <a:srgbClr val="000000"/>
                </a:solidFill>
                <a:latin typeface="Microsoft YaHei" panose="020B0503020204020204" charset="-122"/>
              </a:rPr>
              <a:t>基础矩阵与极线约束</a:t>
            </a:r>
            <a:endParaRPr sz="26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20040" y="786384"/>
            <a:ext cx="11567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" y="1143000"/>
            <a:ext cx="5394960" cy="29464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 panose="020B0503020204020204" charset="-122"/>
              </a:rPr>
              <a:t>由本质矩阵推广到基础矩阵</a:t>
            </a:r>
            <a:endParaRPr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504" y="15361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05AAB"/>
                </a:solidFill>
                <a:latin typeface="Microsoft YaHei" panose="020B0503020204020204" charset="-122"/>
              </a:rPr>
              <a:t>（1）从归一化坐标到像素坐标</a:t>
            </a:r>
            <a:endParaRPr sz="14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874519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归一化坐标：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9" name="Picture 8" descr="v4_norm_labe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504" y="1847088"/>
            <a:ext cx="251208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87752" y="1874519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icrosoft YaHei" panose="020B0503020204020204" charset="-122"/>
              </a:rPr>
              <a:t>像素坐标：</a:t>
            </a:r>
            <a:endParaRPr sz="1100" b="0">
              <a:solidFill>
                <a:srgbClr val="5A5A5A"/>
              </a:solidFill>
              <a:latin typeface="Microsoft YaHei" panose="020B0503020204020204" charset="-122"/>
            </a:endParaRPr>
          </a:p>
        </p:txBody>
      </p:sp>
      <p:pic>
        <p:nvPicPr>
          <p:cNvPr id="11" name="Picture 10" descr="v4_pix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39" y="1828800"/>
            <a:ext cx="306474" cy="228600"/>
          </a:xfrm>
          <a:prstGeom prst="rect">
            <a:avLst/>
          </a:prstGeom>
        </p:spPr>
      </p:pic>
      <p:pic>
        <p:nvPicPr>
          <p:cNvPr id="12" name="Picture 11" descr="v4_rel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240280"/>
            <a:ext cx="763075" cy="292608"/>
          </a:xfrm>
          <a:prstGeom prst="rect">
            <a:avLst/>
          </a:prstGeom>
        </p:spPr>
      </p:pic>
      <p:pic>
        <p:nvPicPr>
          <p:cNvPr id="13" name="Picture 12" descr="v4_rel_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2240280"/>
            <a:ext cx="903391" cy="292608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>
            <a:off x="512064" y="2706624"/>
            <a:ext cx="5157216" cy="0"/>
          </a:xfrm>
          <a:prstGeom prst="line">
            <a:avLst/>
          </a:prstGeom>
          <a:ln w="12700">
            <a:solidFill>
              <a:srgbClr val="A1B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3504" y="283464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05AAB"/>
                </a:solidFill>
                <a:latin typeface="Microsoft YaHei" panose="020B0503020204020204" charset="-122"/>
              </a:rPr>
              <a:t>（2）代入本质矩阵约束</a:t>
            </a:r>
            <a:endParaRPr sz="14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pic>
        <p:nvPicPr>
          <p:cNvPr id="16" name="Picture 15" descr="v4_E_constraint_st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145790"/>
            <a:ext cx="690880" cy="2546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8952" y="349300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205AAB"/>
                </a:solidFill>
                <a:latin typeface="Microsoft YaHei" panose="020B0503020204020204" charset="-122"/>
              </a:rPr>
              <a:t>1</a:t>
            </a:r>
            <a:endParaRPr sz="11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pic>
        <p:nvPicPr>
          <p:cNvPr id="18" name="Picture 17" descr="v4_step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145" y="3447415"/>
            <a:ext cx="1611630" cy="279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8952" y="38587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205AAB"/>
                </a:solidFill>
                <a:latin typeface="Microsoft YaHei" panose="020B0503020204020204" charset="-122"/>
              </a:rPr>
              <a:t>2</a:t>
            </a:r>
            <a:endParaRPr sz="11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pic>
        <p:nvPicPr>
          <p:cNvPr id="20" name="Picture 19" descr="v4_step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145" y="3813175"/>
            <a:ext cx="1235075" cy="2482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8952" y="422452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1">
                <a:solidFill>
                  <a:srgbClr val="205AAB"/>
                </a:solidFill>
                <a:latin typeface="Microsoft YaHei" panose="020B0503020204020204" charset="-122"/>
              </a:rPr>
              <a:t>3</a:t>
            </a:r>
            <a:endParaRPr sz="1100" b="1">
              <a:solidFill>
                <a:srgbClr val="205AAB"/>
              </a:solidFill>
              <a:latin typeface="Microsoft YaHei" panose="020B0503020204020204" charset="-122"/>
            </a:endParaRPr>
          </a:p>
        </p:txBody>
      </p:sp>
      <p:pic>
        <p:nvPicPr>
          <p:cNvPr id="22" name="Picture 21" descr="v4_step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145" y="4178935"/>
            <a:ext cx="712470" cy="27114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69264" y="4754879"/>
            <a:ext cx="2697480" cy="457200"/>
          </a:xfrm>
          <a:prstGeom prst="rect">
            <a:avLst/>
          </a:prstGeom>
          <a:solidFill>
            <a:srgbClr val="FCFCFC"/>
          </a:solidFill>
          <a:ln w="1270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4_F_de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9255" y="4816475"/>
            <a:ext cx="1508125" cy="3352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895344" y="4754879"/>
            <a:ext cx="1463040" cy="457200"/>
          </a:xfrm>
          <a:prstGeom prst="rect">
            <a:avLst/>
          </a:prstGeom>
          <a:solidFill>
            <a:srgbClr val="FCFCFC"/>
          </a:solidFill>
          <a:ln w="1270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4_F_e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5120" y="4804410"/>
            <a:ext cx="983615" cy="37020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87552" y="5413248"/>
            <a:ext cx="4526280" cy="420624"/>
          </a:xfrm>
          <a:prstGeom prst="rect">
            <a:avLst/>
          </a:prstGeom>
          <a:solidFill>
            <a:srgbClr val="F8F8F8"/>
          </a:solidFill>
          <a:ln>
            <a:solidFill>
              <a:srgbClr val="819DD6"/>
            </a:solidFill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 panose="020B0503020204020204" charset="-122"/>
              </a:rPr>
              <a:t>基础矩阵 F 适用于未归一化的像素坐标；若已知相机内参，则可由 E 转换得到 F。</a:t>
            </a:r>
            <a:endParaRPr sz="1100" b="0">
              <a:solidFill>
                <a:srgbClr val="282828"/>
              </a:solidFill>
              <a:latin typeface="Microsoft YaHei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64224" y="1143000"/>
            <a:ext cx="5394960" cy="5715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lang="zh-CN" altLang="en-US" sz="1800" b="1">
                <a:solidFill>
                  <a:srgbClr val="000000"/>
                </a:solidFill>
                <a:latin typeface="Microsoft YaHei" panose="020B0503020204020204" charset="-122"/>
              </a:rPr>
              <a:t>极线方程</a:t>
            </a:r>
            <a:endParaRPr lang="zh-CN" altLang="en-US" sz="1800" b="1">
              <a:solidFill>
                <a:srgbClr val="000000"/>
              </a:solidFill>
              <a:latin typeface="Microsoft YaHei" panose="020B0503020204020204" charset="-122"/>
            </a:endParaRPr>
          </a:p>
          <a:p>
            <a:pPr algn="l"/>
            <a:endParaRPr lang="zh-CN" altLang="en-US"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pic>
        <p:nvPicPr>
          <p:cNvPr id="30" name="Picture 29" descr="v4_lprim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3860" y="1474470"/>
            <a:ext cx="785495" cy="400685"/>
          </a:xfrm>
          <a:prstGeom prst="rect">
            <a:avLst/>
          </a:prstGeom>
        </p:spPr>
      </p:pic>
      <p:pic>
        <p:nvPicPr>
          <p:cNvPr id="31" name="Picture 30" descr="v4_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3745" y="1536065"/>
            <a:ext cx="751205" cy="3390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83375" y="2013585"/>
            <a:ext cx="4754880" cy="226695"/>
          </a:xfrm>
          <a:prstGeom prst="rect">
            <a:avLst/>
          </a:prstGeom>
          <a:solidFill>
            <a:srgbClr val="F4FAF4"/>
          </a:solidFill>
          <a:ln>
            <a:solidFill>
              <a:srgbClr val="8DD295"/>
            </a:solidFill>
          </a:ln>
        </p:spPr>
        <p:txBody>
          <a:bodyPr wrap="square" lIns="27432" tIns="9144" rIns="27432" bIns="9144" anchor="ctr" anchorCtr="0">
            <a:no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 panose="020B0503020204020204" charset="-122"/>
              </a:rPr>
              <a:t>几何意义：一幅图中的一个点，在另一幅图中对应一条极线。</a:t>
            </a:r>
            <a:endParaRPr sz="1100" b="0">
              <a:solidFill>
                <a:srgbClr val="282828"/>
              </a:solidFill>
              <a:latin typeface="Microsoft YaHei" panose="020B050302020402020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8440" y="2625090"/>
            <a:ext cx="5113655" cy="2845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09728"/>
            <a:ext cx="1179576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Microsoft YaHei" panose="020B0503020204020204" charset="-122"/>
              </a:rPr>
              <a:t>单应矩阵推导</a:t>
            </a:r>
            <a:endParaRPr sz="2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320040" y="713232"/>
            <a:ext cx="11567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20040" y="877824"/>
            <a:ext cx="11567160" cy="987552"/>
          </a:xfrm>
          <a:prstGeom prst="rect">
            <a:avLst/>
          </a:prstGeom>
          <a:solidFill>
            <a:srgbClr val="FCFCFC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96696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E64234"/>
                </a:solidFill>
                <a:latin typeface="Microsoft YaHei" panose="020B0503020204020204" charset="-122"/>
              </a:rPr>
              <a:t>已知：</a:t>
            </a:r>
            <a:endParaRPr sz="1400" b="1">
              <a:solidFill>
                <a:srgbClr val="E64234"/>
              </a:solidFill>
              <a:latin typeface="Microsoft YaHei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996696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icrosoft YaHei" panose="020B0503020204020204" charset="-122"/>
              </a:rPr>
              <a:t>第一相机内参为 K，第二相机内参为 K′；第二相机相对第一相机位姿为 (R,t)。</a:t>
            </a:r>
            <a:endParaRPr sz="1300" b="0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135331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icrosoft YaHei" panose="020B0503020204020204" charset="-122"/>
              </a:rPr>
              <a:t>平面 π 在第一相机坐标系下：</a:t>
            </a:r>
            <a:endParaRPr sz="1300" b="0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pic>
        <p:nvPicPr>
          <p:cNvPr id="8" name="Picture 7" descr="known_pla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80160"/>
            <a:ext cx="1690497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9560" y="1353312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E64234"/>
                </a:solidFill>
                <a:latin typeface="Microsoft YaHei" panose="020B0503020204020204" charset="-122"/>
              </a:rPr>
              <a:t>结论：</a:t>
            </a:r>
            <a:endParaRPr sz="1400" b="1">
              <a:solidFill>
                <a:srgbClr val="E64234"/>
              </a:solidFill>
              <a:latin typeface="Microsoft YaHei" panose="020B0503020204020204" charset="-122"/>
            </a:endParaRPr>
          </a:p>
        </p:txBody>
      </p:sp>
      <p:pic>
        <p:nvPicPr>
          <p:cNvPr id="10" name="Picture 9" descr="H_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1271016"/>
            <a:ext cx="1638082" cy="3291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2048256"/>
            <a:ext cx="4800600" cy="4407408"/>
          </a:xfrm>
          <a:prstGeom prst="rect">
            <a:avLst/>
          </a:prstGeom>
          <a:solidFill>
            <a:srgbClr val="FCFCFC"/>
          </a:solidFill>
          <a:ln w="19050">
            <a:solidFill>
              <a:srgbClr val="2B61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76672" y="2048256"/>
            <a:ext cx="6510528" cy="4407408"/>
          </a:xfrm>
          <a:prstGeom prst="rect">
            <a:avLst/>
          </a:prstGeom>
          <a:solidFill>
            <a:srgbClr val="FCFCFC"/>
          </a:solidFill>
          <a:ln w="19050">
            <a:solidFill>
              <a:srgbClr val="3794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185416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 panose="020B0503020204020204" charset="-122"/>
              </a:rPr>
              <a:t>1. 投影模型与平面约束</a:t>
            </a:r>
            <a:endParaRPr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" y="25786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B61AB"/>
                </a:solidFill>
                <a:latin typeface="Microsoft YaHei" panose="020B0503020204020204" charset="-122"/>
              </a:rPr>
              <a:t>（1）相机投影矩阵</a:t>
            </a:r>
            <a:endParaRPr sz="1400" b="1">
              <a:solidFill>
                <a:srgbClr val="2B61AB"/>
              </a:solidFill>
              <a:latin typeface="Microsoft YaHei" panose="020B0503020204020204" charset="-122"/>
            </a:endParaRPr>
          </a:p>
        </p:txBody>
      </p:sp>
      <p:pic>
        <p:nvPicPr>
          <p:cNvPr id="15" name="Picture 14" descr="camera_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19" y="2907792"/>
            <a:ext cx="2318570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512" y="334670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B61AB"/>
                </a:solidFill>
                <a:latin typeface="Microsoft YaHei" panose="020B0503020204020204" charset="-122"/>
              </a:rPr>
              <a:t>（2）平面点表示</a:t>
            </a:r>
            <a:endParaRPr sz="1400" b="1">
              <a:solidFill>
                <a:srgbClr val="2B61AB"/>
              </a:solidFill>
              <a:latin typeface="Microsoft YaHei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832" y="3721608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 panose="020B0503020204020204" charset="-122"/>
              </a:rPr>
              <a:t>空间点齐次形式：</a:t>
            </a:r>
            <a:endParaRPr sz="11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pic>
        <p:nvPicPr>
          <p:cNvPr id="18" name="Picture 17" descr="P_ho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3657600"/>
            <a:ext cx="814181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1832" y="4078224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 panose="020B0503020204020204" charset="-122"/>
              </a:rPr>
              <a:t>像素点与归一化点：</a:t>
            </a:r>
            <a:endParaRPr sz="11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pic>
        <p:nvPicPr>
          <p:cNvPr id="20" name="Picture 19" descr="p_no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4014216"/>
            <a:ext cx="1447364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7512" y="46268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2B61AB"/>
                </a:solidFill>
                <a:latin typeface="Microsoft YaHei" panose="020B0503020204020204" charset="-122"/>
              </a:rPr>
              <a:t>（3）平面约束引入</a:t>
            </a:r>
            <a:endParaRPr sz="1400" b="1">
              <a:solidFill>
                <a:srgbClr val="2B61AB"/>
              </a:solidFill>
              <a:latin typeface="Microsoft YaHei" panose="020B0503020204020204" charset="-122"/>
            </a:endParaRPr>
          </a:p>
        </p:txBody>
      </p:sp>
      <p:pic>
        <p:nvPicPr>
          <p:cNvPr id="22" name="Picture 21" descr="plane_un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19" y="4974336"/>
            <a:ext cx="517916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19" y="5431536"/>
            <a:ext cx="3703320" cy="502920"/>
          </a:xfrm>
          <a:prstGeom prst="rect">
            <a:avLst/>
          </a:prstGeom>
          <a:solidFill>
            <a:srgbClr val="F8F8F8"/>
          </a:solidFill>
          <a:ln>
            <a:solidFill>
              <a:srgbClr val="819DD6"/>
            </a:solidFill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2D2D2D"/>
                </a:solidFill>
                <a:latin typeface="Microsoft YaHei" panose="020B0503020204020204" charset="-122"/>
              </a:rPr>
              <a:t>因为点被限制在同一平面 π 上，</a:t>
            </a:r>
            <a:endParaRPr sz="1100" b="0">
              <a:solidFill>
                <a:srgbClr val="2D2D2D"/>
              </a:solidFill>
              <a:latin typeface="Microsoft YaHei" panose="020B0503020204020204" charset="-122"/>
            </a:endParaRPr>
          </a:p>
          <a:p>
            <a:pPr algn="l"/>
            <a:r>
              <a:rPr sz="1100" b="0">
                <a:solidFill>
                  <a:srgbClr val="2D2D2D"/>
                </a:solidFill>
                <a:latin typeface="Microsoft YaHei" panose="020B0503020204020204" charset="-122"/>
              </a:rPr>
              <a:t>平移项 t 可写成与平面坐标相关的项。</a:t>
            </a:r>
            <a:endParaRPr sz="1100" b="0">
              <a:solidFill>
                <a:srgbClr val="2D2D2D"/>
              </a:solidFill>
              <a:latin typeface="Microsoft YaHei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41264" y="2185416"/>
            <a:ext cx="5943600" cy="2926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Microsoft YaHei" panose="020B0503020204020204" charset="-122"/>
              </a:rPr>
              <a:t>2. 由同一平面诱导两幅图像的点映射</a:t>
            </a:r>
            <a:endParaRPr sz="1800" b="1">
              <a:solidFill>
                <a:srgbClr val="000000"/>
              </a:solidFill>
              <a:latin typeface="Microsoft YaHei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24144" y="257860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379443"/>
                </a:solidFill>
                <a:latin typeface="Microsoft YaHei" panose="020B0503020204020204" charset="-122"/>
              </a:rPr>
              <a:t>（1）第二相机投影</a:t>
            </a:r>
            <a:endParaRPr sz="1400" b="1">
              <a:solidFill>
                <a:srgbClr val="379443"/>
              </a:solidFill>
              <a:latin typeface="Microsoft YaHei" panose="020B0503020204020204" charset="-122"/>
            </a:endParaRPr>
          </a:p>
        </p:txBody>
      </p:sp>
      <p:pic>
        <p:nvPicPr>
          <p:cNvPr id="26" name="Picture 25" descr="derive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2472" y="2907792"/>
            <a:ext cx="1579262" cy="2743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91472" y="2944368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 panose="020B0503020204020204" charset="-122"/>
              </a:rPr>
              <a:t>其中</a:t>
            </a:r>
            <a:endParaRPr sz="11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pic>
        <p:nvPicPr>
          <p:cNvPr id="28" name="Picture 27" descr="derive_P_no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2952" y="2889504"/>
            <a:ext cx="699820" cy="21945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24144" y="33467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379443"/>
                </a:solidFill>
                <a:latin typeface="Microsoft YaHei" panose="020B0503020204020204" charset="-122"/>
              </a:rPr>
              <a:t>（2）利用平面约束插入 1</a:t>
            </a:r>
            <a:endParaRPr sz="1400" b="1">
              <a:solidFill>
                <a:srgbClr val="379443"/>
              </a:solidFill>
              <a:latin typeface="Microsoft YaHei" panose="020B0503020204020204" charset="-122"/>
            </a:endParaRPr>
          </a:p>
        </p:txBody>
      </p:sp>
      <p:pic>
        <p:nvPicPr>
          <p:cNvPr id="30" name="Picture 29" descr="derive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2472" y="3666744"/>
            <a:ext cx="2050153" cy="310896"/>
          </a:xfrm>
          <a:prstGeom prst="rect">
            <a:avLst/>
          </a:prstGeom>
        </p:spPr>
      </p:pic>
      <p:pic>
        <p:nvPicPr>
          <p:cNvPr id="31" name="Picture 30" descr="derive_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2472" y="4078224"/>
            <a:ext cx="1093984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24144" y="45902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400" b="1">
                <a:solidFill>
                  <a:srgbClr val="379443"/>
                </a:solidFill>
                <a:latin typeface="Microsoft YaHei" panose="020B0503020204020204" charset="-122"/>
              </a:rPr>
              <a:t>（3）代入第一相机反投影</a:t>
            </a:r>
            <a:endParaRPr sz="1400" b="1">
              <a:solidFill>
                <a:srgbClr val="379443"/>
              </a:solidFill>
              <a:latin typeface="Microsoft YaHei" panose="020B0503020204020204" charset="-122"/>
            </a:endParaRPr>
          </a:p>
        </p:txBody>
      </p:sp>
      <p:pic>
        <p:nvPicPr>
          <p:cNvPr id="33" name="Picture 32" descr="derive_inv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62472" y="4901184"/>
            <a:ext cx="621792" cy="256032"/>
          </a:xfrm>
          <a:prstGeom prst="rect">
            <a:avLst/>
          </a:prstGeom>
        </p:spPr>
      </p:pic>
      <p:pic>
        <p:nvPicPr>
          <p:cNvPr id="34" name="Picture 33" descr="derive_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9831" y="4837176"/>
            <a:ext cx="1668290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60720" y="5705856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Microsoft YaHei" panose="020B0503020204020204" charset="-122"/>
              </a:rPr>
              <a:t>令</a:t>
            </a:r>
            <a:endParaRPr sz="1200" b="0">
              <a:solidFill>
                <a:srgbClr val="555555"/>
              </a:solidFill>
              <a:latin typeface="Microsoft YaHei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89904" y="5596128"/>
            <a:ext cx="2926080" cy="457200"/>
          </a:xfrm>
          <a:prstGeom prst="rect">
            <a:avLst/>
          </a:prstGeom>
          <a:solidFill>
            <a:srgbClr val="FCFCFC"/>
          </a:solidFill>
          <a:ln w="1397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H_final_box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5669280"/>
            <a:ext cx="1205148" cy="246888"/>
          </a:xfrm>
          <a:prstGeom prst="rect">
            <a:avLst/>
          </a:prstGeom>
        </p:spPr>
      </p:pic>
      <p:sp>
        <p:nvSpPr>
          <p:cNvPr id="38" name="Right Arrow 37"/>
          <p:cNvSpPr/>
          <p:nvPr/>
        </p:nvSpPr>
        <p:spPr>
          <a:xfrm>
            <a:off x="9290304" y="5632704"/>
            <a:ext cx="320040" cy="384048"/>
          </a:xfrm>
          <a:prstGeom prst="rightArrow">
            <a:avLst/>
          </a:prstGeom>
          <a:solidFill>
            <a:srgbClr val="F8F8F8"/>
          </a:solidFill>
          <a:ln w="1524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38944" y="5596128"/>
            <a:ext cx="1417320" cy="457200"/>
          </a:xfrm>
          <a:prstGeom prst="rect">
            <a:avLst/>
          </a:prstGeom>
          <a:solidFill>
            <a:srgbClr val="FCFCFC"/>
          </a:solidFill>
          <a:ln w="13970">
            <a:solidFill>
              <a:srgbClr val="E64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_H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13263" y="5669280"/>
            <a:ext cx="523036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062472" y="6272784"/>
            <a:ext cx="5303520" cy="347472"/>
          </a:xfrm>
          <a:prstGeom prst="rect">
            <a:avLst/>
          </a:prstGeom>
          <a:solidFill>
            <a:srgbClr val="F4FAF4"/>
          </a:solidFill>
          <a:ln>
            <a:solidFill>
              <a:srgbClr val="8DD295"/>
            </a:solidFill>
          </a:ln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100" b="0">
                <a:solidFill>
                  <a:srgbClr val="282828"/>
                </a:solidFill>
                <a:latin typeface="Microsoft YaHei" panose="020B0503020204020204" charset="-122"/>
              </a:rPr>
              <a:t>含义：同一平面上的点，在两幅图像之间满足单应映射。</a:t>
            </a:r>
            <a:endParaRPr sz="1100" b="0">
              <a:solidFill>
                <a:srgbClr val="282828"/>
              </a:solidFill>
              <a:latin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基础矩阵估算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" y="23495"/>
            <a:ext cx="12077700" cy="6810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0"/>
            <a:ext cx="116166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0"/>
            <a:ext cx="116884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三角化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0"/>
            <a:ext cx="120084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4930"/>
            <a:ext cx="12191365" cy="67081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05" y="0"/>
            <a:ext cx="118059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PnP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与</a:t>
            </a:r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BA</a:t>
            </a:r>
            <a:endParaRPr lang="en-US" altLang="zh-CN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770"/>
            <a:ext cx="12191365" cy="67278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54" y="146475"/>
            <a:ext cx="3840280" cy="4206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P3P求解思路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47454" y="676799"/>
            <a:ext cx="11475122" cy="0"/>
          </a:xfrm>
          <a:prstGeom prst="line">
            <a:avLst/>
          </a:prstGeom>
          <a:noFill/>
          <a:ln w="317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889" y="868813"/>
            <a:ext cx="1280093" cy="237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1）已知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195" y="1115688"/>
            <a:ext cx="4343174" cy="6400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相机内参 K；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像点 a, b, c 的像素坐标；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对应世界点 A, B, C 的三维坐标。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8889" y="1874601"/>
            <a:ext cx="4343174" cy="256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2）像点反投影：得到三条视线方向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769" y="2176337"/>
            <a:ext cx="4772919" cy="2194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i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oₐ = K⁻¹ã / ‖K⁻¹ã‖， oᵦ = K⁻¹b̃ / ‖K⁻¹b̃‖， o𝒸 = K⁻¹c̃ / ‖K⁻¹c̃‖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713195" y="2468930"/>
            <a:ext cx="4571762" cy="237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已知 K 与像点坐标，即可得到 OA、OB、OC 的方向。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889" y="2834671"/>
            <a:ext cx="4343174" cy="256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3）世界点形成三角形：计算边长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251" y="3136407"/>
            <a:ext cx="2057293" cy="2285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|AB|，|BC|，|CA|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13195" y="3419856"/>
            <a:ext cx="4526044" cy="237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由 A、B、C 的世界坐标可直接计算三边长度。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889" y="3785597"/>
            <a:ext cx="4937503" cy="256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4）几何约束求深度：OA、OB、OC 的长度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44677" y="4096477"/>
            <a:ext cx="2331599" cy="2285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i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cos∠AOB = oₐᵀ oᵦ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49769" y="4416501"/>
            <a:ext cx="4480327" cy="2285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i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AB² = OA² + OB² − 2·OA·OB·cos∠AOB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13195" y="4718237"/>
            <a:ext cx="4663197" cy="310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同理可列出关于 OB、OC、OA 的方程组，求得 |OA|、|OB|、|OC|。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38889" y="5074834"/>
            <a:ext cx="4297456" cy="256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5）恢复相机坐标系下三点位置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769" y="5358284"/>
            <a:ext cx="4407178" cy="2285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i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A𝒸 = |OA|·oₐ， B𝒸 = |OB|·oᵦ， C𝒸 = |OC|·o𝒸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13195" y="5623446"/>
            <a:ext cx="4617479" cy="2925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于是 A、B、C 在相机坐标系与世界坐标系下的坐标都已知。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438889" y="5925182"/>
            <a:ext cx="5211809" cy="25601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6）3D-3D 对齐：反求外参 R, T    X𝒸 = R X𝓌 + T</a:t>
            </a:r>
            <a:endParaRPr lang="en-US" sz="1450" dirty="0"/>
          </a:p>
        </p:txBody>
      </p:sp>
      <p:pic>
        <p:nvPicPr>
          <p:cNvPr id="20" name="Image 0" descr="/mnt/data/image(15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5584" y="1005966"/>
            <a:ext cx="4567243" cy="431574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88429" y="5339996"/>
            <a:ext cx="5440397" cy="2743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图中对应：</a:t>
            </a:r>
            <a:r>
              <a:rPr lang="en-US" sz="12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像点 a,b,c 确定三条射线；世界点 A,B,C 确定三角形三边。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88429" y="5669163"/>
            <a:ext cx="5348961" cy="2743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P3P 的本质：</a:t>
            </a:r>
            <a:r>
              <a:rPr lang="en-US" sz="12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先解深度 OA/OB/OC，再做 3D-3D 刚体对齐。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1691552" y="6446363"/>
            <a:ext cx="8960653" cy="2011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5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核心思路：</a:t>
            </a:r>
            <a:r>
              <a:rPr lang="en-US" sz="135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像点 → 视线方向；三角形边长 → 深度；3D-3D 对齐 → 相机外参。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0" y="6748099"/>
            <a:ext cx="12191060" cy="10972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09728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捆绑</a:t>
            </a:r>
            <a:r>
              <a:rPr lang="en-US" sz="28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调整</a:t>
            </a:r>
            <a:r>
              <a:rPr lang="zh-CN" altLang="en-US" sz="28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BA</a:t>
            </a:r>
            <a:r>
              <a:rPr lang="zh-CN" altLang="en-US" sz="2800" b="1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）</a:t>
            </a:r>
            <a:endParaRPr lang="zh-CN" altLang="en-US" sz="2800" b="1" dirty="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245362" y="1432560"/>
            <a:ext cx="301752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1）输入：已有初值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00810" y="1771015"/>
            <a:ext cx="3079115" cy="2743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00000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由 PnP / 三角化得到相机位姿与三维点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2322830" y="2103628"/>
            <a:ext cx="1234440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5362" y="2573528"/>
            <a:ext cx="384048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2）重投影：把 3D 点投回图像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9940" y="2933700"/>
            <a:ext cx="2749550" cy="2717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5362" y="3798824"/>
            <a:ext cx="44805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3）残差：预测点与真实观测点的距离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1010" y="4036695"/>
            <a:ext cx="2226945" cy="3270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45362" y="4962906"/>
            <a:ext cx="4023360" cy="219456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6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4）调整：相机和三维点一起微调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7415" y="5296535"/>
            <a:ext cx="1379855" cy="22352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615" y="965200"/>
            <a:ext cx="5799455" cy="531685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299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9875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增量式子</a:t>
            </a:r>
            <a:r>
              <a:rPr lang="en-US" altLang="zh-CN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SfM</a:t>
            </a:r>
            <a:r>
              <a:rPr lang="zh-CN" altLang="en-US" sz="28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系统</a:t>
            </a:r>
            <a:endParaRPr lang="zh-CN" altLang="en-US" sz="2800" b="1" dirty="0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2907792"/>
            <a:ext cx="1005840" cy="548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457200"/>
            <a:ext cx="2926080" cy="2926080"/>
          </a:xfrm>
          <a:prstGeom prst="arc">
            <a:avLst/>
          </a:prstGeom>
          <a:noFill/>
          <a:ln w="38100">
            <a:solidFill>
              <a:srgbClr val="294A6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0" y="4297680"/>
            <a:ext cx="1828800" cy="1828800"/>
          </a:xfrm>
          <a:prstGeom prst="arc">
            <a:avLst/>
          </a:prstGeom>
          <a:noFill/>
          <a:ln w="25400">
            <a:solidFill>
              <a:srgbClr val="294A62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132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增量式 SfM 系统流程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32688"/>
            <a:ext cx="3154680" cy="402336"/>
          </a:xfrm>
          <a:prstGeom prst="roundRect">
            <a:avLst>
              <a:gd name="adj" fmla="val 18182"/>
            </a:avLst>
          </a:prstGeom>
          <a:solidFill>
            <a:srgbClr val="FFF2F2"/>
          </a:solidFill>
          <a:ln w="15240">
            <a:solidFill>
              <a:srgbClr val="E3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05840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输入：</a:t>
            </a:r>
            <a:r>
              <a:rPr lang="en-US" sz="140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多张图像 + 相机内参 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41248" y="1527048"/>
            <a:ext cx="0" cy="4078224"/>
          </a:xfrm>
          <a:prstGeom prst="line">
            <a:avLst/>
          </a:prstGeom>
          <a:noFill/>
          <a:ln w="12700">
            <a:solidFill>
              <a:srgbClr val="E3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502920" y="2331720"/>
            <a:ext cx="320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初始化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 rot="16200000">
            <a:off x="502920" y="4343400"/>
            <a:ext cx="320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增量扩展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157276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7F7F7"/>
          </a:solidFill>
          <a:ln w="13970">
            <a:solidFill>
              <a:srgbClr val="D8D8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1719072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177850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1691640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特征提取与匹配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1335024" y="2103120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提取每张图像特征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两两匹配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构建 feature tracks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4526280" y="157276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3970">
            <a:solidFill>
              <a:srgbClr val="2F64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719072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77850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93208" y="1691640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F64B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初始化两视图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782312" y="2103120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RANSAC 估计 E / F / H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选择匹配多、视差大的图像对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由 E 分解 R,t，并做正深度检查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7973568" y="1572768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7F7F7"/>
          </a:solidFill>
          <a:ln w="13970">
            <a:solidFill>
              <a:srgbClr val="D8D8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1719072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9872" y="1778508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0496" y="1691640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初始三角化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8229600" y="2103120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对内点匹配三角化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过滤负深度、低视差、高重投影误差点</a:t>
            </a:r>
            <a:endParaRPr lang="en-US" sz="1170" dirty="0"/>
          </a:p>
        </p:txBody>
      </p:sp>
      <p:sp>
        <p:nvSpPr>
          <p:cNvPr id="25" name="Shape 23"/>
          <p:cNvSpPr/>
          <p:nvPr/>
        </p:nvSpPr>
        <p:spPr>
          <a:xfrm>
            <a:off x="7973568" y="3785616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3970">
            <a:solidFill>
              <a:srgbClr val="2F64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3931920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3991356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40496" y="3904488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F64B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初始 BA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0" y="4315968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固定第一相机位姿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优化第二相机位姿和初始三维点</a:t>
            </a:r>
            <a:endParaRPr lang="en-US" sz="1170" dirty="0"/>
          </a:p>
        </p:txBody>
      </p:sp>
      <p:sp>
        <p:nvSpPr>
          <p:cNvPr id="30" name="Shape 28"/>
          <p:cNvSpPr/>
          <p:nvPr/>
        </p:nvSpPr>
        <p:spPr>
          <a:xfrm>
            <a:off x="4526280" y="3785616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7F7F7"/>
          </a:solidFill>
          <a:ln w="13970">
            <a:solidFill>
              <a:srgbClr val="D8D8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2584" y="3931920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72584" y="3991356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93208" y="3904488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增量注册新图像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4782312" y="4315968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由 tracks 建立 2D-3D 对应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PnP + RANSAC 求新相机位姿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三角化新点</a:t>
            </a:r>
            <a:endParaRPr lang="en-US" sz="1170" dirty="0"/>
          </a:p>
        </p:txBody>
      </p:sp>
      <p:sp>
        <p:nvSpPr>
          <p:cNvPr id="35" name="Shape 33"/>
          <p:cNvSpPr/>
          <p:nvPr/>
        </p:nvSpPr>
        <p:spPr>
          <a:xfrm>
            <a:off x="1078992" y="3785616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EAF2FF"/>
          </a:solidFill>
          <a:ln w="13970">
            <a:solidFill>
              <a:srgbClr val="2F64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25296" y="3931920"/>
            <a:ext cx="329184" cy="329184"/>
          </a:xfrm>
          <a:prstGeom prst="ellipse">
            <a:avLst/>
          </a:prstGeom>
          <a:solidFill>
            <a:srgbClr val="E30000"/>
          </a:solidFill>
          <a:ln w="12700">
            <a:solidFill>
              <a:srgbClr val="E3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25296" y="3991356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45920" y="3904488"/>
            <a:ext cx="2350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2F64B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局部 / 全局 BA</a:t>
            </a:r>
            <a:endParaRPr lang="en-US" sz="1520" dirty="0"/>
          </a:p>
        </p:txBody>
      </p:sp>
      <p:sp>
        <p:nvSpPr>
          <p:cNvPr id="39" name="Text 37"/>
          <p:cNvSpPr/>
          <p:nvPr/>
        </p:nvSpPr>
        <p:spPr>
          <a:xfrm>
            <a:off x="1335024" y="4315968"/>
            <a:ext cx="2624328" cy="6583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Local BA：每加入图像后优化局部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SimSun" panose="02010600030101010101" pitchFamily="34" charset="-122"/>
                <a:ea typeface="SimSun" panose="02010600030101010101" pitchFamily="34" charset="-122"/>
                <a:cs typeface="SimSun" panose="02010600030101010101" pitchFamily="34" charset="-120"/>
              </a:rPr>
              <a:t>• Global BA：阶段性优化全部相机和点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4206240" y="2130552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653528" y="2130552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372600" y="312724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↓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653528" y="4352544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←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4206240" y="4352544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←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822960" y="565099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方法论：先建立可靠对应关系，再用两视图完成初始化，随后“注册新图像—三角化新点—BA优化”循环扩展。</a:t>
            </a:r>
            <a:endParaRPr lang="en-US" sz="1380" dirty="0"/>
          </a:p>
        </p:txBody>
      </p:sp>
      <p:sp>
        <p:nvSpPr>
          <p:cNvPr id="46" name="Shape 44"/>
          <p:cNvSpPr/>
          <p:nvPr/>
        </p:nvSpPr>
        <p:spPr>
          <a:xfrm>
            <a:off x="3977640" y="5989320"/>
            <a:ext cx="7269480" cy="420624"/>
          </a:xfrm>
          <a:prstGeom prst="roundRect">
            <a:avLst>
              <a:gd name="adj" fmla="val 17391"/>
            </a:avLst>
          </a:prstGeom>
          <a:solidFill>
            <a:srgbClr val="FFF2F2"/>
          </a:solidFill>
          <a:ln w="15240">
            <a:solidFill>
              <a:srgbClr val="E3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60520" y="6080760"/>
            <a:ext cx="6903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3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输出：</a:t>
            </a:r>
            <a:r>
              <a:rPr lang="en-US" sz="135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相机位姿 Rᵢ,tᵢ ｜ 稀疏三维点 Xⱼ ｜ 图像观测关系 tracks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4754880" cy="4114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convert.py 工程代码解析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4920" y="320040"/>
            <a:ext cx="49377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把 SfM 流程封装为 3DGS 可读取的数据预处理链路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1147572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2880360" cy="4343400"/>
          </a:xfrm>
          <a:prstGeom prst="roundRect">
            <a:avLst>
              <a:gd name="adj" fmla="val 1905"/>
            </a:avLst>
          </a:prstGeom>
          <a:solidFill>
            <a:srgbClr val="F5F5F5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115568"/>
            <a:ext cx="256032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1）工程入口：目录与参数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1444752"/>
            <a:ext cx="2514600" cy="1645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输入图像：source_path/input
</a:t>
            </a:r>
            <a:r>
              <a:rPr lang="en-US" sz="102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数据库：distorted/database.db
</a:t>
            </a:r>
            <a:r>
              <a:rPr lang="en-US" sz="102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畸变 SfM 输出：distorted/sparse/0
</a:t>
            </a:r>
            <a:r>
              <a:rPr lang="en-US" sz="102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去畸变后：images + sparse/0
</a:t>
            </a:r>
            <a:r>
              <a:rPr lang="en-US" sz="102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关键开关：--camera / --no_gpu / --skip_matching / --resize
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76072" y="3246120"/>
            <a:ext cx="25146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55848"/>
            <a:ext cx="2194560" cy="2286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代码定位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639312"/>
            <a:ext cx="2176272" cy="4389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不是手写 SfM 算法；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而是调用 COLMAP 命令，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把图像转换成 3DGS 输入。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76072" y="4315968"/>
            <a:ext cx="2514600" cy="685800"/>
          </a:xfrm>
          <a:prstGeom prst="rect">
            <a:avLst/>
          </a:prstGeom>
          <a:solidFill>
            <a:srgbClr val="FFF6F6"/>
          </a:solidFill>
          <a:ln w="10160">
            <a:solidFill>
              <a:srgbClr val="F2B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407408"/>
            <a:ext cx="21945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E0000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single_camera = 1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13232" y="4681728"/>
            <a:ext cx="21945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默认所有图片共享同一相机模型/内参假设。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3611880" y="960120"/>
            <a:ext cx="3792855" cy="25590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2）COLMAP 调用链：一行 mapper 封装大部分 SfM 主体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1298448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1F5F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298448"/>
            <a:ext cx="100584" cy="566928"/>
          </a:xfrm>
          <a:prstGeom prst="rect">
            <a:avLst/>
          </a:prstGeom>
          <a:solidFill>
            <a:srgbClr val="1F5FA8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371600"/>
            <a:ext cx="329184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F5FA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feature_extractor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22192" y="1618488"/>
            <a:ext cx="3291840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提取 SIFT 特征；写入 database.db；设置相机模型 OPENCV / GPU 开关。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3657600" y="2066544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00A8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066544"/>
            <a:ext cx="100584" cy="566928"/>
          </a:xfrm>
          <a:prstGeom prst="rect">
            <a:avLst/>
          </a:prstGeom>
          <a:solidFill>
            <a:srgbClr val="00A885"/>
          </a:solidFill>
          <a:ln w="12700">
            <a:solidFill>
              <a:srgbClr val="00A8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22192" y="2139696"/>
            <a:ext cx="329184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0A88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exhaustive_matcher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22192" y="2386584"/>
            <a:ext cx="3291840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两两图像匹配；为后续几何验证与 feature tracks 提供匹配关系。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3657600" y="28346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E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834640"/>
            <a:ext cx="100584" cy="777240"/>
          </a:xfrm>
          <a:prstGeom prst="rect">
            <a:avLst/>
          </a:prstGeom>
          <a:solidFill>
            <a:srgbClr val="E00000"/>
          </a:solidFill>
          <a:ln w="12700">
            <a:solidFill>
              <a:srgbClr val="E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22192" y="2907792"/>
            <a:ext cx="329184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mapper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22192" y="3154680"/>
            <a:ext cx="3291840" cy="3931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核心增量 SfM：E/F/H RANSAC、初始化图像对、E 分解 R,t、正深度检查、三角化、PnP 注册、Local / Global BA。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3657600" y="3813048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F39C1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3813048"/>
            <a:ext cx="100584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3886200"/>
            <a:ext cx="329184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39C1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image_undistorter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22192" y="4133088"/>
            <a:ext cx="3291840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把畸变图像和相机模型转换成理想针孔模型；输出 COLMAP 格式 images + sparse。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3657600" y="4581144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7777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4581144"/>
            <a:ext cx="100584" cy="566928"/>
          </a:xfrm>
          <a:prstGeom prst="rect">
            <a:avLst/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4654296"/>
            <a:ext cx="3291840" cy="21031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77777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resize（可选）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22192" y="4901184"/>
            <a:ext cx="3291840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生成 images_2 / images_4 / images_8，多尺度训练或快速调试使用。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417820" y="1865376"/>
            <a:ext cx="0" cy="182880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17820" y="2633472"/>
            <a:ext cx="0" cy="182880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17820" y="3611880"/>
            <a:ext cx="0" cy="182880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17820" y="4379976"/>
            <a:ext cx="0" cy="182880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635240" y="960120"/>
            <a:ext cx="4069080" cy="43434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0160">
            <a:solidFill>
              <a:srgbClr val="D8D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1115568"/>
            <a:ext cx="3566160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3）与 SfM 流程的对应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818120" y="1481328"/>
            <a:ext cx="59436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1481328"/>
            <a:ext cx="1353312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65792" y="1481328"/>
            <a:ext cx="16002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1536192"/>
            <a:ext cx="50292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zh-CN" alt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流程</a:t>
            </a: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1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458200" y="1536192"/>
            <a:ext cx="12344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特征提取与匹配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9811512" y="1536192"/>
            <a:ext cx="14630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feature_extractor + matcher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7818120" y="1965960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1965960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765792" y="1965960"/>
            <a:ext cx="1600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2020824"/>
            <a:ext cx="50292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zh-CN" alt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流程</a:t>
            </a: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2–4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8458200" y="2020824"/>
            <a:ext cx="12344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初始化、三角化、初始 BA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9811512" y="2020824"/>
            <a:ext cx="14630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mapper 内部完成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818120" y="2450592"/>
            <a:ext cx="59436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12480" y="2450592"/>
            <a:ext cx="1353312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765792" y="2450592"/>
            <a:ext cx="16002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2505456"/>
            <a:ext cx="50292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zh-CN" alt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流程</a:t>
            </a: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5</a:t>
            </a:r>
            <a:endParaRPr lang="en-US" sz="780" dirty="0"/>
          </a:p>
        </p:txBody>
      </p:sp>
      <p:sp>
        <p:nvSpPr>
          <p:cNvPr id="57" name="Text 55"/>
          <p:cNvSpPr/>
          <p:nvPr/>
        </p:nvSpPr>
        <p:spPr>
          <a:xfrm>
            <a:off x="8458200" y="2505456"/>
            <a:ext cx="12344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PnP 注册新图像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9811512" y="2505456"/>
            <a:ext cx="14630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mapper 内部完成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7818120" y="2935224"/>
            <a:ext cx="5943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12480" y="2935224"/>
            <a:ext cx="13533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65792" y="2935224"/>
            <a:ext cx="16002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63840" y="2990088"/>
            <a:ext cx="50292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手稿 6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8458200" y="2990088"/>
            <a:ext cx="12344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局部 / 全局 BA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9811512" y="2990088"/>
            <a:ext cx="14630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mapper 内部完成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7818120" y="3419856"/>
            <a:ext cx="59436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12480" y="3419856"/>
            <a:ext cx="1353312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65792" y="3419856"/>
            <a:ext cx="1600200" cy="292608"/>
          </a:xfrm>
          <a:prstGeom prst="rect">
            <a:avLst/>
          </a:prstGeom>
          <a:solidFill>
            <a:srgbClr val="F8F8F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3474720"/>
            <a:ext cx="50292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3DGS 需求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8458200" y="3474720"/>
            <a:ext cx="12344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去畸变图像 + sparse/0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9811512" y="3474720"/>
            <a:ext cx="146304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image_undistorter + 文件整理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7818120" y="4050792"/>
            <a:ext cx="3566160" cy="0"/>
          </a:xfrm>
          <a:prstGeom prst="line">
            <a:avLst/>
          </a:prstGeom>
          <a:noFill/>
          <a:ln w="1143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18120" y="4187952"/>
            <a:ext cx="82296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工程注意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818120" y="4443984"/>
            <a:ext cx="3703320" cy="6583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已知精确 K 时，应显式传 camera_params，并决定是否固定内参。
</a:t>
            </a:r>
            <a:r>
              <a:rPr lang="en-US" sz="8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视频/自动驾驶序列不宜总用 exhaustive_matcher，可换 sequential_matcher。
</a:t>
            </a:r>
            <a:r>
              <a:rPr lang="en-US" sz="8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• --skip_matching 只适合已经跑好 distorted/sparse/0 的场景。
</a:t>
            </a:r>
            <a:endParaRPr lang="en-US" sz="880" dirty="0"/>
          </a:p>
        </p:txBody>
      </p:sp>
      <p:sp>
        <p:nvSpPr>
          <p:cNvPr id="74" name="Shape 72"/>
          <p:cNvSpPr/>
          <p:nvPr/>
        </p:nvSpPr>
        <p:spPr>
          <a:xfrm>
            <a:off x="1417320" y="5532120"/>
            <a:ext cx="9372600" cy="475488"/>
          </a:xfrm>
          <a:prstGeom prst="roundRect">
            <a:avLst>
              <a:gd name="adj" fmla="val 11538"/>
            </a:avLst>
          </a:prstGeom>
          <a:solidFill>
            <a:srgbClr val="FFF9F9"/>
          </a:solidFill>
          <a:ln w="15240">
            <a:solidFill>
              <a:srgbClr val="E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00200" y="5650992"/>
            <a:ext cx="9006840" cy="164592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核心结论：</a:t>
            </a:r>
            <a:r>
              <a:rPr lang="en-US" sz="12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convert.py 是 COLMAP SfM 的工程封装层；真正的 </a:t>
            </a:r>
            <a:r>
              <a:rPr lang="en-US" sz="1280" b="1" dirty="0">
                <a:solidFill>
                  <a:srgbClr val="E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E/F/H、三角化、PnP、BA</a:t>
            </a:r>
            <a:r>
              <a:rPr lang="en-US" sz="1280" dirty="0">
                <a:solidFill>
                  <a:srgbClr val="11111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 在 mapper 内部完成，最终服务于 3DGS 训练输入。</a:t>
            </a:r>
            <a:endParaRPr lang="en-US" sz="1280" dirty="0"/>
          </a:p>
        </p:txBody>
      </p:sp>
      <p:sp>
        <p:nvSpPr>
          <p:cNvPr id="76" name="Shape 7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6611112"/>
            <a:ext cx="365760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SfM 系统设计  |  convert.py 工程代码解析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406640" y="6611112"/>
            <a:ext cx="438912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pitchFamily="34" charset="-120"/>
              </a:rPr>
              <a:t>输入图像 → COLMAP SfM → 去畸变图像 + sparse/0 → 3DGS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3629</Words>
  <Application>WPS 演示</Application>
  <PresentationFormat>On-screen Show (4:3)</PresentationFormat>
  <Paragraphs>455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54" baseType="lpstr">
      <vt:lpstr>Arial</vt:lpstr>
      <vt:lpstr>宋体</vt:lpstr>
      <vt:lpstr>Wingdings</vt:lpstr>
      <vt:lpstr>Arial</vt:lpstr>
      <vt:lpstr>Microsoft YaHei</vt:lpstr>
      <vt:lpstr>Noto Sans CJK SC</vt:lpstr>
      <vt:lpstr>Noto Sans CJK SC</vt:lpstr>
      <vt:lpstr>Calibri</vt:lpstr>
      <vt:lpstr>微软雅黑</vt:lpstr>
      <vt:lpstr>Arial Unicode MS</vt:lpstr>
      <vt:lpstr>Arsenal SC</vt:lpstr>
      <vt:lpstr>Microsoft YaHei</vt:lpstr>
      <vt:lpstr>BatangChe</vt:lpstr>
      <vt:lpstr>Noto Sans CJK KR</vt:lpstr>
      <vt:lpstr>Cambria</vt:lpstr>
      <vt:lpstr>SimSun</vt:lpstr>
      <vt:lpstr>SimSun</vt:lpstr>
      <vt:lpstr>Aptos Mono</vt:lpstr>
      <vt:lpstr>Noto Mono</vt:lpstr>
      <vt:lpstr>Aptos Mono</vt:lpstr>
      <vt:lpstr>Aptos Mono</vt:lpstr>
      <vt:lpstr>汉仪叶叶相思体简</vt:lpstr>
      <vt:lpstr>Arial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sil</cp:lastModifiedBy>
  <cp:revision>73</cp:revision>
  <dcterms:created xsi:type="dcterms:W3CDTF">2026-05-02T06:23:03Z</dcterms:created>
  <dcterms:modified xsi:type="dcterms:W3CDTF">2026-05-02T06:23:03Z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22129F9BFC3C7B5FFDABF169E258BA27_43</vt:lpwstr>
  </property>
  <property fmtid="{D5CDD505-2E9C-101B-9397-08002B2CF9AE}" pid="3" name="KSOProductBuildVer">
    <vt:lpwstr>2052-12.1.2.25882</vt:lpwstr>
  </property>
</Properties>
</file>